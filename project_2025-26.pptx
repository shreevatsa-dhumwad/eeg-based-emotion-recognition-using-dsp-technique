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notesMasterIdLst>
    <p:notesMasterId r:id="rId3"/>
  </p:notesMasterIdLst>
  <p:sldIdLst>
    <p:sldId id="259" r:id="rId2"/>
  </p:sldIdLst>
  <p:sldSz cx="12801600" cy="9601200" type="A3"/>
  <p:notesSz cx="9601200" cy="7315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0" userDrawn="1">
          <p15:clr>
            <a:srgbClr val="A4A3A4"/>
          </p15:clr>
        </p15:guide>
        <p15:guide id="2" pos="5370" userDrawn="1">
          <p15:clr>
            <a:srgbClr val="A4A3A4"/>
          </p15:clr>
        </p15:guide>
        <p15:guide id="3" orient="horz" pos="2961" userDrawn="1">
          <p15:clr>
            <a:srgbClr val="A4A3A4"/>
          </p15:clr>
        </p15:guide>
        <p15:guide id="4" pos="39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22C"/>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47" autoAdjust="0"/>
    <p:restoredTop sz="96774" autoAdjust="0"/>
  </p:normalViewPr>
  <p:slideViewPr>
    <p:cSldViewPr showGuides="1">
      <p:cViewPr varScale="1">
        <p:scale>
          <a:sx n="59" d="100"/>
          <a:sy n="59" d="100"/>
        </p:scale>
        <p:origin x="1930" y="86"/>
      </p:cViewPr>
      <p:guideLst>
        <p:guide orient="horz" pos="4110"/>
        <p:guide pos="5370"/>
        <p:guide orient="horz" pos="2961"/>
        <p:guide pos="399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pPr>
              <a:defRPr/>
            </a:pPr>
            <a:endParaRPr lang="en-US" dirty="0"/>
          </a:p>
        </p:txBody>
      </p:sp>
      <p:sp>
        <p:nvSpPr>
          <p:cNvPr id="3" name="Date Placeholder 2"/>
          <p:cNvSpPr>
            <a:spLocks noGrp="1"/>
          </p:cNvSpPr>
          <p:nvPr>
            <p:ph type="dt" idx="1"/>
          </p:nvPr>
        </p:nvSpPr>
        <p:spPr>
          <a:xfrm>
            <a:off x="5439014" y="0"/>
            <a:ext cx="4160520" cy="365760"/>
          </a:xfrm>
          <a:prstGeom prst="rect">
            <a:avLst/>
          </a:prstGeom>
        </p:spPr>
        <p:txBody>
          <a:bodyPr vert="horz" lIns="96661" tIns="48331" rIns="96661" bIns="48331" rtlCol="0"/>
          <a:lstStyle>
            <a:lvl1pPr algn="r">
              <a:defRPr sz="1300"/>
            </a:lvl1pPr>
          </a:lstStyle>
          <a:p>
            <a:pPr>
              <a:defRPr/>
            </a:pPr>
            <a:fld id="{8DA7D3DA-D4CF-4054-A710-8575792C48DD}" type="datetimeFigureOut">
              <a:rPr lang="en-US"/>
              <a:t>5/10/2026</a:t>
            </a:fld>
            <a:endParaRPr lang="en-US" dirty="0"/>
          </a:p>
        </p:txBody>
      </p:sp>
      <p:sp>
        <p:nvSpPr>
          <p:cNvPr id="4" name="Slide Image Placeholder 3"/>
          <p:cNvSpPr>
            <a:spLocks noGrp="1" noRot="1" noChangeAspect="1"/>
          </p:cNvSpPr>
          <p:nvPr>
            <p:ph type="sldImg" idx="2"/>
          </p:nvPr>
        </p:nvSpPr>
        <p:spPr>
          <a:xfrm>
            <a:off x="2971800" y="549275"/>
            <a:ext cx="3657600" cy="2743200"/>
          </a:xfrm>
          <a:prstGeom prst="rect">
            <a:avLst/>
          </a:prstGeom>
          <a:noFill/>
          <a:ln w="12700">
            <a:solidFill>
              <a:prstClr val="black"/>
            </a:solidFill>
          </a:ln>
        </p:spPr>
        <p:txBody>
          <a:bodyPr vert="horz" lIns="96661" tIns="48331" rIns="96661" bIns="48331" rtlCol="0" anchor="ctr"/>
          <a:lstStyle/>
          <a:p>
            <a:pPr lvl="0"/>
            <a:endParaRPr lang="en-US" noProof="0" dirty="0"/>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947747"/>
            <a:ext cx="4160520" cy="365760"/>
          </a:xfrm>
          <a:prstGeom prst="rect">
            <a:avLst/>
          </a:prstGeom>
        </p:spPr>
        <p:txBody>
          <a:bodyPr vert="horz" lIns="96661" tIns="48331" rIns="96661" bIns="48331" rtlCol="0" anchor="b"/>
          <a:lstStyle>
            <a:lvl1pPr algn="l">
              <a:defRPr sz="1300"/>
            </a:lvl1pPr>
          </a:lstStyle>
          <a:p>
            <a:pPr>
              <a:defRPr/>
            </a:pPr>
            <a:endParaRPr lang="en-US" dirty="0"/>
          </a:p>
        </p:txBody>
      </p:sp>
      <p:sp>
        <p:nvSpPr>
          <p:cNvPr id="7" name="Slide Number Placeholder 6"/>
          <p:cNvSpPr>
            <a:spLocks noGrp="1"/>
          </p:cNvSpPr>
          <p:nvPr>
            <p:ph type="sldNum" sz="quarter" idx="5"/>
          </p:nvPr>
        </p:nvSpPr>
        <p:spPr>
          <a:xfrm>
            <a:off x="5439014" y="6947747"/>
            <a:ext cx="4160520" cy="365760"/>
          </a:xfrm>
          <a:prstGeom prst="rect">
            <a:avLst/>
          </a:prstGeom>
        </p:spPr>
        <p:txBody>
          <a:bodyPr vert="horz" lIns="96661" tIns="48331" rIns="96661" bIns="48331" rtlCol="0" anchor="b"/>
          <a:lstStyle>
            <a:lvl1pPr algn="r">
              <a:defRPr sz="1300"/>
            </a:lvl1pPr>
          </a:lstStyle>
          <a:p>
            <a:pPr>
              <a:defRPr/>
            </a:pPr>
            <a:fld id="{095823FB-3E7A-4815-914B-4B33629D59C3}" type="slidenum">
              <a:rPr lang="en-US"/>
              <a:t>‹#›</a:t>
            </a:fld>
            <a:endParaRPr lang="en-US" dirty="0"/>
          </a:p>
        </p:txBody>
      </p:sp>
    </p:spTree>
    <p:extLst>
      <p:ext uri="{BB962C8B-B14F-4D97-AF65-F5344CB8AC3E}">
        <p14:creationId xmlns:p14="http://schemas.microsoft.com/office/powerpoint/2010/main" val="3831534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11" kern="1200">
        <a:solidFill>
          <a:schemeClr val="tx1"/>
        </a:solidFill>
        <a:latin typeface="+mn-lt"/>
        <a:ea typeface="+mn-ea"/>
        <a:cs typeface="+mn-cs"/>
      </a:defRPr>
    </a:lvl1pPr>
    <a:lvl2pPr marL="537569" algn="l" rtl="0" eaLnBrk="0" fontAlgn="base" hangingPunct="0">
      <a:spcBef>
        <a:spcPct val="30000"/>
      </a:spcBef>
      <a:spcAft>
        <a:spcPct val="0"/>
      </a:spcAft>
      <a:defRPr sz="1411" kern="1200">
        <a:solidFill>
          <a:schemeClr val="tx1"/>
        </a:solidFill>
        <a:latin typeface="+mn-lt"/>
        <a:ea typeface="+mn-ea"/>
        <a:cs typeface="+mn-cs"/>
      </a:defRPr>
    </a:lvl2pPr>
    <a:lvl3pPr marL="1075140" algn="l" rtl="0" eaLnBrk="0" fontAlgn="base" hangingPunct="0">
      <a:spcBef>
        <a:spcPct val="30000"/>
      </a:spcBef>
      <a:spcAft>
        <a:spcPct val="0"/>
      </a:spcAft>
      <a:defRPr sz="1411" kern="1200">
        <a:solidFill>
          <a:schemeClr val="tx1"/>
        </a:solidFill>
        <a:latin typeface="+mn-lt"/>
        <a:ea typeface="+mn-ea"/>
        <a:cs typeface="+mn-cs"/>
      </a:defRPr>
    </a:lvl3pPr>
    <a:lvl4pPr marL="1612711" algn="l" rtl="0" eaLnBrk="0" fontAlgn="base" hangingPunct="0">
      <a:spcBef>
        <a:spcPct val="30000"/>
      </a:spcBef>
      <a:spcAft>
        <a:spcPct val="0"/>
      </a:spcAft>
      <a:defRPr sz="1411" kern="1200">
        <a:solidFill>
          <a:schemeClr val="tx1"/>
        </a:solidFill>
        <a:latin typeface="+mn-lt"/>
        <a:ea typeface="+mn-ea"/>
        <a:cs typeface="+mn-cs"/>
      </a:defRPr>
    </a:lvl4pPr>
    <a:lvl5pPr marL="2150282" algn="l" rtl="0" eaLnBrk="0" fontAlgn="base" hangingPunct="0">
      <a:spcBef>
        <a:spcPct val="30000"/>
      </a:spcBef>
      <a:spcAft>
        <a:spcPct val="0"/>
      </a:spcAft>
      <a:defRPr sz="1411" kern="1200">
        <a:solidFill>
          <a:schemeClr val="tx1"/>
        </a:solidFill>
        <a:latin typeface="+mn-lt"/>
        <a:ea typeface="+mn-ea"/>
        <a:cs typeface="+mn-cs"/>
      </a:defRPr>
    </a:lvl5pPr>
    <a:lvl6pPr marL="2687851" algn="l" defTabSz="1075140" rtl="0" eaLnBrk="1" latinLnBrk="0" hangingPunct="1">
      <a:defRPr sz="1411" kern="1200">
        <a:solidFill>
          <a:schemeClr val="tx1"/>
        </a:solidFill>
        <a:latin typeface="+mn-lt"/>
        <a:ea typeface="+mn-ea"/>
        <a:cs typeface="+mn-cs"/>
      </a:defRPr>
    </a:lvl6pPr>
    <a:lvl7pPr marL="3225421" algn="l" defTabSz="1075140" rtl="0" eaLnBrk="1" latinLnBrk="0" hangingPunct="1">
      <a:defRPr sz="1411" kern="1200">
        <a:solidFill>
          <a:schemeClr val="tx1"/>
        </a:solidFill>
        <a:latin typeface="+mn-lt"/>
        <a:ea typeface="+mn-ea"/>
        <a:cs typeface="+mn-cs"/>
      </a:defRPr>
    </a:lvl7pPr>
    <a:lvl8pPr marL="3762991" algn="l" defTabSz="1075140" rtl="0" eaLnBrk="1" latinLnBrk="0" hangingPunct="1">
      <a:defRPr sz="1411" kern="1200">
        <a:solidFill>
          <a:schemeClr val="tx1"/>
        </a:solidFill>
        <a:latin typeface="+mn-lt"/>
        <a:ea typeface="+mn-ea"/>
        <a:cs typeface="+mn-cs"/>
      </a:defRPr>
    </a:lvl8pPr>
    <a:lvl9pPr marL="4300562" algn="l" defTabSz="1075140" rtl="0" eaLnBrk="1" latinLnBrk="0" hangingPunct="1">
      <a:defRPr sz="141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en-US"/>
              <a:t>Click to edit Master title style</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24F5460F-96E0-41BC-BFD5-E159634B3175}" type="datetimeFigureOut">
              <a:rPr lang="en-US" smtClean="0"/>
              <a:t>5/10/2026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4BB3AD0-5DBC-48D5-BDCD-360487953A45}" type="slidenum">
              <a:rPr lang="en-US" smtClean="0"/>
              <a:t>‹#›</a:t>
            </a:fld>
            <a:endParaRPr lang="en-US" dirty="0"/>
          </a:p>
        </p:txBody>
      </p:sp>
    </p:spTree>
    <p:extLst>
      <p:ext uri="{BB962C8B-B14F-4D97-AF65-F5344CB8AC3E}">
        <p14:creationId xmlns:p14="http://schemas.microsoft.com/office/powerpoint/2010/main" val="2000220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641E83C-3328-47B5-8F6E-AC2DD1A4855E}" type="datetimeFigureOut">
              <a:rPr lang="en-US" smtClean="0"/>
              <a:t>5/10/2026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8E179CA9-CAEE-4BB7-8EFC-60BB3D80FEA2}" type="slidenum">
              <a:rPr lang="en-US" smtClean="0"/>
              <a:t>‹#›</a:t>
            </a:fld>
            <a:endParaRPr lang="en-US" dirty="0"/>
          </a:p>
        </p:txBody>
      </p:sp>
    </p:spTree>
    <p:extLst>
      <p:ext uri="{BB962C8B-B14F-4D97-AF65-F5344CB8AC3E}">
        <p14:creationId xmlns:p14="http://schemas.microsoft.com/office/powerpoint/2010/main" val="193396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en-US"/>
              <a:t>Click to edit Master title style</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58BD1A3-08D1-4783-BE32-9483B8F2332C}" type="datetimeFigureOut">
              <a:rPr lang="en-US" smtClean="0"/>
              <a:t>5/10/2026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7B4F12C6-BDBE-4921-B43C-0B64A03B68FB}" type="slidenum">
              <a:rPr lang="en-US" smtClean="0"/>
              <a:t>‹#›</a:t>
            </a:fld>
            <a:endParaRPr lang="en-US" dirty="0"/>
          </a:p>
        </p:txBody>
      </p:sp>
    </p:spTree>
    <p:extLst>
      <p:ext uri="{BB962C8B-B14F-4D97-AF65-F5344CB8AC3E}">
        <p14:creationId xmlns:p14="http://schemas.microsoft.com/office/powerpoint/2010/main" val="1443159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785FD71E-2DFD-4F23-A448-ACECB91B2C59}" type="datetimeFigureOut">
              <a:rPr lang="en-US" smtClean="0"/>
              <a:t>5/10/2026</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15706F45-AC25-4817-AACF-54B8C6C580FA}" type="slidenum">
              <a:rPr lang="en-US" smtClean="0"/>
              <a:t>‹#›</a:t>
            </a:fld>
            <a:endParaRPr lang="en-US" dirty="0"/>
          </a:p>
        </p:txBody>
      </p:sp>
    </p:spTree>
    <p:extLst>
      <p:ext uri="{BB962C8B-B14F-4D97-AF65-F5344CB8AC3E}">
        <p14:creationId xmlns:p14="http://schemas.microsoft.com/office/powerpoint/2010/main" val="405635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4" name="Content Placeholder 3"/>
          <p:cNvSpPr>
            <a:spLocks noGrp="1"/>
          </p:cNvSpPr>
          <p:nvPr>
            <p:ph sz="half" idx="2"/>
          </p:nvPr>
        </p:nvSpPr>
        <p:spPr>
          <a:xfrm>
            <a:off x="881779" y="3507105"/>
            <a:ext cx="5415676" cy="5158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6" name="Content Placeholder 5"/>
          <p:cNvSpPr>
            <a:spLocks noGrp="1"/>
          </p:cNvSpPr>
          <p:nvPr>
            <p:ph sz="quarter" idx="4"/>
          </p:nvPr>
        </p:nvSpPr>
        <p:spPr>
          <a:xfrm>
            <a:off x="6480811" y="3507105"/>
            <a:ext cx="5442347" cy="5158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7CA1FB7C-CAD3-4979-BB8E-DDCF03472B9C}" type="datetimeFigureOut">
              <a:rPr lang="en-US" smtClean="0"/>
              <a:t>5/10/2026</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531507D2-9CBF-494B-8A56-EF5DC47183D3}" type="slidenum">
              <a:rPr lang="en-US" smtClean="0"/>
              <a:t>‹#›</a:t>
            </a:fld>
            <a:endParaRPr lang="en-US" dirty="0"/>
          </a:p>
        </p:txBody>
      </p:sp>
    </p:spTree>
    <p:extLst>
      <p:ext uri="{BB962C8B-B14F-4D97-AF65-F5344CB8AC3E}">
        <p14:creationId xmlns:p14="http://schemas.microsoft.com/office/powerpoint/2010/main" val="4095946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86FA2579-1276-4A74-87A1-6D0FE2FF372C}" type="datetimeFigureOut">
              <a:rPr lang="en-US" smtClean="0"/>
              <a:t>5/10/2026</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3F546B4A-9340-49C8-807A-7783BD84082F}" type="slidenum">
              <a:rPr lang="en-US" smtClean="0"/>
              <a:t>‹#›</a:t>
            </a:fld>
            <a:endParaRPr lang="en-US" dirty="0"/>
          </a:p>
        </p:txBody>
      </p:sp>
    </p:spTree>
    <p:extLst>
      <p:ext uri="{BB962C8B-B14F-4D97-AF65-F5344CB8AC3E}">
        <p14:creationId xmlns:p14="http://schemas.microsoft.com/office/powerpoint/2010/main" val="2562087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28E265A-1361-4AEA-8A14-E101C8394C8C}" type="datetimeFigureOut">
              <a:rPr lang="en-US" smtClean="0"/>
              <a:t>5/10/2026</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7B84815A-3B0E-4997-A765-CDBFE7D75534}" type="slidenum">
              <a:rPr lang="en-US" smtClean="0"/>
              <a:t>‹#›</a:t>
            </a:fld>
            <a:endParaRPr lang="en-US" dirty="0"/>
          </a:p>
        </p:txBody>
      </p:sp>
    </p:spTree>
    <p:extLst>
      <p:ext uri="{BB962C8B-B14F-4D97-AF65-F5344CB8AC3E}">
        <p14:creationId xmlns:p14="http://schemas.microsoft.com/office/powerpoint/2010/main" val="2651577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4F6368B-BFDC-4FD9-BB47-0294E095E7C7}" type="datetimeFigureOut">
              <a:rPr lang="en-US" smtClean="0"/>
              <a:t>5/10/2026</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EA0EB0D-B40A-4476-A042-007224BD9F0A}" type="slidenum">
              <a:rPr lang="en-US" smtClean="0"/>
              <a:t>‹#›</a:t>
            </a:fld>
            <a:endParaRPr lang="en-US" dirty="0"/>
          </a:p>
        </p:txBody>
      </p:sp>
    </p:spTree>
    <p:extLst>
      <p:ext uri="{BB962C8B-B14F-4D97-AF65-F5344CB8AC3E}">
        <p14:creationId xmlns:p14="http://schemas.microsoft.com/office/powerpoint/2010/main" val="1564053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US"/>
              <a:t>Click icon to add picture</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4B24F50-1CD8-4B77-BE20-CFD245A62816}" type="datetimeFigureOut">
              <a:rPr lang="en-US" smtClean="0"/>
              <a:t>5/10/2026</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7DD18976-4C8D-4EDB-A1D9-42BB65F6CA2F}" type="slidenum">
              <a:rPr lang="en-US" smtClean="0"/>
              <a:t>‹#›</a:t>
            </a:fld>
            <a:endParaRPr lang="en-US" dirty="0"/>
          </a:p>
        </p:txBody>
      </p:sp>
    </p:spTree>
    <p:extLst>
      <p:ext uri="{BB962C8B-B14F-4D97-AF65-F5344CB8AC3E}">
        <p14:creationId xmlns:p14="http://schemas.microsoft.com/office/powerpoint/2010/main" val="729445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6F35837-7092-45D4-8203-1DECF2FA5DEF}" type="datetimeFigureOut">
              <a:rPr lang="en-US" smtClean="0"/>
              <a:t>5/10/2026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64D52EC-F445-4909-BEE7-D61A89EDE60E}" type="slidenum">
              <a:rPr lang="en-US" smtClean="0"/>
              <a:t>‹#›</a:t>
            </a:fld>
            <a:endParaRPr lang="en-US" dirty="0"/>
          </a:p>
        </p:txBody>
      </p:sp>
    </p:spTree>
    <p:extLst>
      <p:ext uri="{BB962C8B-B14F-4D97-AF65-F5344CB8AC3E}">
        <p14:creationId xmlns:p14="http://schemas.microsoft.com/office/powerpoint/2010/main" val="3327584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F62A16A-F627-46B0-B05E-C9F55505C59C}" type="datetimeFigureOut">
              <a:rPr lang="en-US" smtClean="0"/>
              <a:t>5/10/2026</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6A913833-D753-453C-8296-ABA66C37EEE1}" type="slidenum">
              <a:rPr lang="en-US" smtClean="0"/>
              <a:t>‹#›</a:t>
            </a:fld>
            <a:endParaRPr lang="en-US" dirty="0"/>
          </a:p>
        </p:txBody>
      </p:sp>
    </p:spTree>
    <p:extLst>
      <p:ext uri="{BB962C8B-B14F-4D97-AF65-F5344CB8AC3E}">
        <p14:creationId xmlns:p14="http://schemas.microsoft.com/office/powerpoint/2010/main" val="382989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pPr>
              <a:defRPr/>
            </a:pPr>
            <a:fld id="{C3649540-97AF-4BB8-BF1D-44EE7EB337A9}" type="datetimeFigureOut">
              <a:rPr lang="en-US" smtClean="0"/>
              <a:t>5/10/2026</a:t>
            </a:fld>
            <a:endParaRPr lang="en-US" dirty="0"/>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pPr>
              <a:defRPr/>
            </a:pPr>
            <a:endParaRPr lang="en-US" dirty="0"/>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pPr>
              <a:defRPr/>
            </a:pPr>
            <a:fld id="{C8D161DD-CB27-4D32-93F1-1D522049FD1D}" type="slidenum">
              <a:rPr lang="en-US" smtClean="0"/>
              <a:t>‹#›</a:t>
            </a:fld>
            <a:endParaRPr lang="en-US" dirty="0"/>
          </a:p>
        </p:txBody>
      </p:sp>
    </p:spTree>
    <p:extLst>
      <p:ext uri="{BB962C8B-B14F-4D97-AF65-F5344CB8AC3E}">
        <p14:creationId xmlns:p14="http://schemas.microsoft.com/office/powerpoint/2010/main" val="427107390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4.png"/><Relationship Id="rId18" Type="http://schemas.openxmlformats.org/officeDocument/2006/relationships/image" Target="../media/image7.png"/><Relationship Id="rId21" Type="http://schemas.openxmlformats.org/officeDocument/2006/relationships/image" Target="../media/image11.png"/><Relationship Id="rId17" Type="http://schemas.openxmlformats.org/officeDocument/2006/relationships/image" Target="../media/image6.png"/><Relationship Id="rId16" Type="http://schemas.openxmlformats.org/officeDocument/2006/relationships/image" Target="../media/image5.png"/><Relationship Id="rId20" Type="http://schemas.openxmlformats.org/officeDocument/2006/relationships/image" Target="../media/image10.png"/><Relationship Id="rId1" Type="http://schemas.openxmlformats.org/officeDocument/2006/relationships/slideLayout" Target="../slideLayouts/slideLayout2.xml"/><Relationship Id="rId15" Type="http://schemas.openxmlformats.org/officeDocument/2006/relationships/image" Target="../media/image3.png"/><Relationship Id="rId10" Type="http://schemas.openxmlformats.org/officeDocument/2006/relationships/image" Target="../media/image1.png"/><Relationship Id="rId19" Type="http://schemas.openxmlformats.org/officeDocument/2006/relationships/image" Target="../media/image9.png"/><Relationship Id="rId9" Type="http://schemas.openxmlformats.org/officeDocument/2006/relationships/image" Target="../media/image8.png"/><Relationship Id="rId14" Type="http://schemas.openxmlformats.org/officeDocument/2006/relationships/image" Target="../media/image2.png"/><Relationship Id="rId22"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136104" y="191083"/>
            <a:ext cx="12529392" cy="9218029"/>
            <a:chOff x="1942" y="0"/>
            <a:chExt cx="15653" cy="10141"/>
          </a:xfrm>
        </p:grpSpPr>
        <p:sp>
          <p:nvSpPr>
            <p:cNvPr id="10" name="Rectangles 9"/>
            <p:cNvSpPr/>
            <p:nvPr/>
          </p:nvSpPr>
          <p:spPr>
            <a:xfrm>
              <a:off x="1942" y="960"/>
              <a:ext cx="15634" cy="9181"/>
            </a:xfrm>
            <a:prstGeom prst="rect">
              <a:avLst/>
            </a:prstGeom>
            <a:no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1292" dirty="0"/>
            </a:p>
          </p:txBody>
        </p:sp>
        <p:sp>
          <p:nvSpPr>
            <p:cNvPr id="5" name="Rectangle 4"/>
            <p:cNvSpPr/>
            <p:nvPr/>
          </p:nvSpPr>
          <p:spPr>
            <a:xfrm>
              <a:off x="1942" y="0"/>
              <a:ext cx="15653" cy="960"/>
            </a:xfrm>
            <a:prstGeom prst="rect">
              <a:avLst/>
            </a:prstGeom>
            <a:solidFill>
              <a:schemeClr val="accent6">
                <a:lumMod val="40000"/>
                <a:lumOff val="60000"/>
              </a:schemeClr>
            </a:solidFill>
            <a:ln>
              <a:solidFill>
                <a:schemeClr val="accent6">
                  <a:lumMod val="40000"/>
                  <a:lumOff val="60000"/>
                </a:schemeClr>
              </a:solidFill>
            </a:ln>
            <a:effectLst>
              <a:innerShdw blurRad="63500" dist="50800" dir="2700000">
                <a:prstClr val="black">
                  <a:alpha val="50000"/>
                </a:prstClr>
              </a:innerShdw>
            </a:effectLst>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lIns="27098" tIns="13549" rIns="27098" bIns="13549" anchor="ctr"/>
            <a:lstStyle/>
            <a:p>
              <a:pPr algn="ctr" defTabSz="1438442">
                <a:defRPr/>
              </a:pPr>
              <a:endParaRPr lang="en-GB" sz="2215" dirty="0">
                <a:latin typeface="Bookman Old Style" panose="02050604050505020204" pitchFamily="18" charset="0"/>
              </a:endParaRPr>
            </a:p>
            <a:p>
              <a:pPr defTabSz="1438442">
                <a:defRPr/>
              </a:pPr>
              <a:endParaRPr lang="en-IN" altLang="en-GB" sz="1108" dirty="0">
                <a:solidFill>
                  <a:srgbClr val="C00000"/>
                </a:solidFill>
                <a:latin typeface="Bookman Old Style" panose="02050604050505020204" pitchFamily="18" charset="0"/>
              </a:endParaRPr>
            </a:p>
            <a:p>
              <a:pPr algn="ctr" defTabSz="1438442">
                <a:defRPr/>
              </a:pPr>
              <a:endParaRPr lang="en-US" sz="2215" dirty="0">
                <a:latin typeface="Bookman Old Style" panose="02050604050505020204" pitchFamily="18" charset="0"/>
              </a:endParaRPr>
            </a:p>
          </p:txBody>
        </p:sp>
        <p:sp>
          <p:nvSpPr>
            <p:cNvPr id="55" name="Rectangle 54"/>
            <p:cNvSpPr/>
            <p:nvPr/>
          </p:nvSpPr>
          <p:spPr>
            <a:xfrm>
              <a:off x="1942" y="952"/>
              <a:ext cx="4961" cy="305"/>
            </a:xfrm>
            <a:prstGeom prst="rect">
              <a:avLst/>
            </a:prstGeom>
            <a:solidFill>
              <a:schemeClr val="accent6">
                <a:lumMod val="40000"/>
                <a:lumOff val="60000"/>
              </a:schemeClr>
            </a:solidFill>
            <a:ln w="6350">
              <a:solidFill>
                <a:schemeClr val="accent6">
                  <a:lumMod val="50000"/>
                </a:schemeClr>
              </a:solidFill>
            </a:ln>
            <a:effectLst>
              <a:glow rad="63500">
                <a:schemeClr val="accent6">
                  <a:satMod val="175000"/>
                  <a:alpha val="40000"/>
                </a:schemeClr>
              </a:glow>
            </a:effectLst>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solidFill>
                    <a:srgbClr val="002060"/>
                  </a:solidFill>
                  <a:latin typeface="Bookman Old Style" panose="02050604050505020204" pitchFamily="18" charset="0"/>
                </a:rPr>
                <a:t>Need Statement</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6" name="Text Box 5"/>
            <p:cNvSpPr txBox="1"/>
            <p:nvPr/>
          </p:nvSpPr>
          <p:spPr>
            <a:xfrm>
              <a:off x="5409" y="37"/>
              <a:ext cx="9049" cy="868"/>
            </a:xfrm>
            <a:prstGeom prst="rect">
              <a:avLst/>
            </a:prstGeom>
            <a:noFill/>
            <a:ln>
              <a:noFill/>
            </a:ln>
          </p:spPr>
          <p:txBody>
            <a:bodyPr wrap="square" lIns="91440" tIns="45720" rIns="91440" bIns="45720" rtlCol="0" anchor="t">
              <a:noAutofit/>
            </a:bodyPr>
            <a:lstStyle/>
            <a:p>
              <a:pPr defTabSz="1438442">
                <a:defRPr/>
              </a:pPr>
              <a:r>
                <a:rPr lang="en-IN" altLang="en-GB" sz="1600" b="1" dirty="0">
                  <a:solidFill>
                    <a:srgbClr val="C00000"/>
                  </a:solidFill>
                  <a:latin typeface="Bookman Old Style"/>
                  <a:sym typeface="+mn-ea"/>
                </a:rPr>
                <a:t>EEG BASED EMOTION CLASSIFICATION USING DSP TECHNIQUES</a:t>
              </a:r>
              <a:endParaRPr lang="en-GB" sz="1600" b="1" dirty="0">
                <a:solidFill>
                  <a:srgbClr val="C00000"/>
                </a:solidFill>
                <a:latin typeface="Bookman Old Style" panose="02050604050505020204" pitchFamily="18" charset="0"/>
              </a:endParaRPr>
            </a:p>
            <a:p>
              <a:pPr algn="ctr" defTabSz="1438442">
                <a:lnSpc>
                  <a:spcPct val="150000"/>
                </a:lnSpc>
                <a:defRPr/>
              </a:pPr>
              <a:endParaRPr lang="en-IN" altLang="en-GB" sz="200" dirty="0">
                <a:solidFill>
                  <a:srgbClr val="C00000"/>
                </a:solidFill>
                <a:latin typeface="Bookman Old Style" panose="02050604050505020204" pitchFamily="18" charset="0"/>
                <a:sym typeface="+mn-ea"/>
              </a:endParaRPr>
            </a:p>
            <a:p>
              <a:pPr algn="ctr" defTabSz="1438442">
                <a:lnSpc>
                  <a:spcPct val="150000"/>
                </a:lnSpc>
                <a:defRPr/>
              </a:pPr>
              <a:endParaRPr lang="en-IN" altLang="en-GB" sz="100" dirty="0">
                <a:solidFill>
                  <a:srgbClr val="C00000"/>
                </a:solidFill>
                <a:latin typeface="Bookman Old Style" panose="02050604050505020204" pitchFamily="18" charset="0"/>
                <a:sym typeface="+mn-ea"/>
              </a:endParaRPr>
            </a:p>
            <a:p>
              <a:pPr algn="ctr" defTabSz="1438442">
                <a:defRPr/>
              </a:pPr>
              <a:r>
                <a:rPr lang="en-IN" altLang="en-GB" sz="1200" b="1" i="1" dirty="0">
                  <a:solidFill>
                    <a:srgbClr val="C00000"/>
                  </a:solidFill>
                  <a:latin typeface="Bookman Old Style" panose="02050604050505020204" pitchFamily="18" charset="0"/>
                  <a:sym typeface="+mn-ea"/>
                </a:rPr>
                <a:t>Theme: Bio-Medical Signal Processing</a:t>
              </a:r>
              <a:endParaRPr lang="en-GB" sz="1100" b="1" i="1" dirty="0">
                <a:solidFill>
                  <a:srgbClr val="C00000"/>
                </a:solidFill>
                <a:latin typeface="Bookman Old Style" panose="02050604050505020204" pitchFamily="18" charset="0"/>
                <a:sym typeface="+mn-ea"/>
              </a:endParaRPr>
            </a:p>
            <a:p>
              <a:pPr algn="ctr" defTabSz="1438442">
                <a:defRPr/>
              </a:pPr>
              <a:r>
                <a:rPr lang="en-IN" altLang="en-GB" sz="1050" b="1" dirty="0">
                  <a:solidFill>
                    <a:srgbClr val="C00000"/>
                  </a:solidFill>
                  <a:latin typeface="Bookman Old Style"/>
                  <a:sym typeface="+mn-ea"/>
                </a:rPr>
                <a:t>Team D13</a:t>
              </a:r>
              <a:r>
                <a:rPr lang="en-IN" altLang="en-GB" sz="1050" dirty="0">
                  <a:solidFill>
                    <a:srgbClr val="C00000"/>
                  </a:solidFill>
                  <a:latin typeface="Bookman Old Style"/>
                  <a:sym typeface="+mn-ea"/>
                </a:rPr>
                <a:t>:Shreevatsa, Vinuta N., Sangeetha S.S., Shrusti M.D. </a:t>
              </a:r>
              <a:endParaRPr lang="en-GB" sz="1050" dirty="0">
                <a:solidFill>
                  <a:srgbClr val="C00000"/>
                </a:solidFill>
                <a:latin typeface="Bookman Old Style" panose="02050604050505020204" pitchFamily="18" charset="0"/>
              </a:endParaRPr>
            </a:p>
            <a:p>
              <a:pPr defTabSz="1438442">
                <a:defRPr/>
              </a:pPr>
              <a:endParaRPr lang="en-GB" sz="1050" dirty="0">
                <a:solidFill>
                  <a:srgbClr val="C00000"/>
                </a:solidFill>
                <a:latin typeface="Bookman Old Style" panose="02050604050505020204" pitchFamily="18" charset="0"/>
                <a:sym typeface="+mn-ea"/>
              </a:endParaRPr>
            </a:p>
          </p:txBody>
        </p:sp>
      </p:grpSp>
      <p:sp>
        <p:nvSpPr>
          <p:cNvPr id="33" name="Rectangle 32"/>
          <p:cNvSpPr/>
          <p:nvPr/>
        </p:nvSpPr>
        <p:spPr>
          <a:xfrm>
            <a:off x="6519563" y="3069990"/>
            <a:ext cx="988660" cy="191778"/>
          </a:xfrm>
          <a:prstGeom prst="rect">
            <a:avLst/>
          </a:prstGeom>
        </p:spPr>
        <p:txBody>
          <a:bodyPr wrap="none" lIns="63305" tIns="31652" rIns="63305" bIns="31652">
            <a:spAutoFit/>
          </a:bodyPr>
          <a:lstStyle/>
          <a:p>
            <a:r>
              <a:rPr lang="en-IN" altLang="en-US" sz="831" b="1" dirty="0">
                <a:solidFill>
                  <a:srgbClr val="002060"/>
                </a:solidFill>
              </a:rPr>
              <a:t>Time domain signal</a:t>
            </a:r>
          </a:p>
        </p:txBody>
      </p:sp>
      <p:sp>
        <p:nvSpPr>
          <p:cNvPr id="34" name="Rectangle 33"/>
          <p:cNvSpPr/>
          <p:nvPr/>
        </p:nvSpPr>
        <p:spPr>
          <a:xfrm>
            <a:off x="6467663" y="4567680"/>
            <a:ext cx="1038352" cy="191778"/>
          </a:xfrm>
          <a:prstGeom prst="rect">
            <a:avLst/>
          </a:prstGeom>
        </p:spPr>
        <p:txBody>
          <a:bodyPr wrap="none" lIns="63305" tIns="31652" rIns="63305" bIns="31652">
            <a:spAutoFit/>
          </a:bodyPr>
          <a:lstStyle/>
          <a:p>
            <a:r>
              <a:rPr lang="en-IN" altLang="en-US" sz="831" b="1" dirty="0">
                <a:solidFill>
                  <a:srgbClr val="002060"/>
                </a:solidFill>
              </a:rPr>
              <a:t>Frequency Spectrum</a:t>
            </a:r>
          </a:p>
        </p:txBody>
      </p:sp>
      <p:graphicFrame>
        <p:nvGraphicFramePr>
          <p:cNvPr id="8" name="Table 7"/>
          <p:cNvGraphicFramePr/>
          <p:nvPr>
            <p:extLst>
              <p:ext uri="{D42A27DB-BD31-4B8C-83A1-F6EECF244321}">
                <p14:modId xmlns:p14="http://schemas.microsoft.com/office/powerpoint/2010/main" val="3610500921"/>
              </p:ext>
            </p:extLst>
          </p:nvPr>
        </p:nvGraphicFramePr>
        <p:xfrm>
          <a:off x="4187851" y="3368364"/>
          <a:ext cx="1349333" cy="1332224"/>
        </p:xfrm>
        <a:graphic>
          <a:graphicData uri="http://schemas.openxmlformats.org/drawingml/2006/table">
            <a:tbl>
              <a:tblPr firstRow="1" bandRow="1">
                <a:tableStyleId>{E8B1032C-EA38-4F05-BA0D-38AFFFC7BED3}</a:tableStyleId>
              </a:tblPr>
              <a:tblGrid>
                <a:gridCol w="545379">
                  <a:extLst>
                    <a:ext uri="{9D8B030D-6E8A-4147-A177-3AD203B41FA5}">
                      <a16:colId xmlns:a16="http://schemas.microsoft.com/office/drawing/2014/main" val="20000"/>
                    </a:ext>
                  </a:extLst>
                </a:gridCol>
                <a:gridCol w="803954">
                  <a:extLst>
                    <a:ext uri="{9D8B030D-6E8A-4147-A177-3AD203B41FA5}">
                      <a16:colId xmlns:a16="http://schemas.microsoft.com/office/drawing/2014/main" val="20001"/>
                    </a:ext>
                  </a:extLst>
                </a:gridCol>
              </a:tblGrid>
              <a:tr h="219167">
                <a:tc>
                  <a:txBody>
                    <a:bodyPr/>
                    <a:lstStyle/>
                    <a:p>
                      <a:pPr algn="l">
                        <a:buNone/>
                      </a:pPr>
                      <a:r>
                        <a:rPr lang="en-IN" altLang="en-US" sz="800" b="0" dirty="0"/>
                        <a:t>Signal length</a:t>
                      </a:r>
                    </a:p>
                  </a:txBody>
                  <a:tcPr marL="63305" marR="63305" marT="31652" marB="31652"/>
                </a:tc>
                <a:tc>
                  <a:txBody>
                    <a:bodyPr/>
                    <a:lstStyle/>
                    <a:p>
                      <a:pPr algn="ctr">
                        <a:buNone/>
                      </a:pPr>
                      <a:r>
                        <a:rPr lang="en-US" altLang="en-US" sz="900" b="0" dirty="0"/>
                        <a:t>30870</a:t>
                      </a:r>
                      <a:endParaRPr lang="en-IN" altLang="en-US" sz="900" b="0" dirty="0"/>
                    </a:p>
                  </a:txBody>
                  <a:tcPr marL="63305" marR="63305" marT="31652" marB="31652"/>
                </a:tc>
                <a:extLst>
                  <a:ext uri="{0D108BD9-81ED-4DB2-BD59-A6C34878D82A}">
                    <a16:rowId xmlns:a16="http://schemas.microsoft.com/office/drawing/2014/main" val="10000"/>
                  </a:ext>
                </a:extLst>
              </a:tr>
              <a:tr h="288032">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n-IN" altLang="en-US" sz="700" dirty="0"/>
                        <a:t>Amplitude range</a:t>
                      </a:r>
                      <a:endParaRPr lang="en-IN" altLang="en-US" sz="700" b="1" dirty="0"/>
                    </a:p>
                  </a:txBody>
                  <a:tcPr marL="63305" marR="63305" marT="31652" marB="31652"/>
                </a:tc>
                <a:tc>
                  <a:txBody>
                    <a:bodyPr/>
                    <a:lstStyle/>
                    <a:p>
                      <a:pPr lvl="0" algn="ctr">
                        <a:buNone/>
                      </a:pPr>
                      <a:r>
                        <a:rPr lang="en-US" sz="900" b="0" i="0" u="none" strike="noStrike" noProof="0" dirty="0">
                          <a:latin typeface="Calibri"/>
                        </a:rPr>
                        <a:t>~5 to 100 µV</a:t>
                      </a:r>
                      <a:endParaRPr lang="en-US" sz="900" b="0" dirty="0"/>
                    </a:p>
                  </a:txBody>
                  <a:tcPr marL="63305" marR="63305" marT="31652" marB="31652"/>
                </a:tc>
                <a:extLst>
                  <a:ext uri="{0D108BD9-81ED-4DB2-BD59-A6C34878D82A}">
                    <a16:rowId xmlns:a16="http://schemas.microsoft.com/office/drawing/2014/main" val="10001"/>
                  </a:ext>
                </a:extLst>
              </a:tr>
              <a:tr h="368524">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n-IN" altLang="en-US" sz="700" dirty="0"/>
                        <a:t>Sampling frequency</a:t>
                      </a:r>
                    </a:p>
                    <a:p>
                      <a:pPr algn="l">
                        <a:buNone/>
                      </a:pPr>
                      <a:endParaRPr lang="en-US" sz="500" b="1" dirty="0"/>
                    </a:p>
                  </a:txBody>
                  <a:tcPr marL="63305" marR="63305" marT="31652" marB="31652"/>
                </a:tc>
                <a:tc>
                  <a:txBody>
                    <a:bodyPr/>
                    <a:lstStyle/>
                    <a:p>
                      <a:pPr lvl="0" algn="ctr">
                        <a:buNone/>
                      </a:pPr>
                      <a:r>
                        <a:rPr lang="en-US" sz="900" b="0" i="0" u="none" strike="noStrike" noProof="0" dirty="0">
                          <a:latin typeface="Calibri"/>
                        </a:rPr>
                        <a:t>256 Hz</a:t>
                      </a:r>
                      <a:endParaRPr lang="en-US" sz="900" b="0" dirty="0"/>
                    </a:p>
                  </a:txBody>
                  <a:tcPr marL="63305" marR="63305" marT="31652" marB="31652"/>
                </a:tc>
                <a:extLst>
                  <a:ext uri="{0D108BD9-81ED-4DB2-BD59-A6C34878D82A}">
                    <a16:rowId xmlns:a16="http://schemas.microsoft.com/office/drawing/2014/main" val="1878804163"/>
                  </a:ext>
                </a:extLst>
              </a:tr>
              <a:tr h="368524">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n-IN" altLang="en-US" sz="700" dirty="0"/>
                        <a:t>Frequency range</a:t>
                      </a:r>
                      <a:endParaRPr lang="en-US" sz="500" b="1" dirty="0"/>
                    </a:p>
                  </a:txBody>
                  <a:tcPr marL="63305" marR="63305" marT="31652" marB="31652"/>
                </a:tc>
                <a:tc>
                  <a:txBody>
                    <a:bodyPr/>
                    <a:lstStyle/>
                    <a:p>
                      <a:pPr lvl="0" algn="ctr">
                        <a:buNone/>
                      </a:pPr>
                      <a:r>
                        <a:rPr lang="en-US" sz="900" b="0" i="0" u="none" strike="noStrike" noProof="0" dirty="0">
                          <a:latin typeface="Calibri"/>
                        </a:rPr>
                        <a:t>0.5 Hz to 45 Hz</a:t>
                      </a:r>
                      <a:endParaRPr lang="en-US" sz="900" b="0" dirty="0"/>
                    </a:p>
                  </a:txBody>
                  <a:tcPr marL="63305" marR="63305" marT="31652" marB="31652"/>
                </a:tc>
                <a:extLst>
                  <a:ext uri="{0D108BD9-81ED-4DB2-BD59-A6C34878D82A}">
                    <a16:rowId xmlns:a16="http://schemas.microsoft.com/office/drawing/2014/main" val="622325573"/>
                  </a:ext>
                </a:extLst>
              </a:tr>
            </a:tbl>
          </a:graphicData>
        </a:graphic>
      </p:graphicFrame>
      <p:cxnSp>
        <p:nvCxnSpPr>
          <p:cNvPr id="19" name="Straight Connector 18"/>
          <p:cNvCxnSpPr>
            <a:cxnSpLocks/>
          </p:cNvCxnSpPr>
          <p:nvPr/>
        </p:nvCxnSpPr>
        <p:spPr>
          <a:xfrm>
            <a:off x="4096544" y="1056184"/>
            <a:ext cx="10576" cy="8352928"/>
          </a:xfrm>
          <a:prstGeom prst="line">
            <a:avLst/>
          </a:prstGeom>
          <a:ln>
            <a:solidFill>
              <a:schemeClr val="accent6">
                <a:lumMod val="50000"/>
              </a:schemeClr>
            </a:solidFill>
          </a:ln>
        </p:spPr>
        <p:style>
          <a:lnRef idx="2">
            <a:schemeClr val="accent1"/>
          </a:lnRef>
          <a:fillRef idx="0">
            <a:srgbClr val="FFFFFF"/>
          </a:fillRef>
          <a:effectRef idx="0">
            <a:srgbClr val="FFFFFF"/>
          </a:effectRef>
          <a:fontRef idx="minor">
            <a:schemeClr val="tx1"/>
          </a:fontRef>
        </p:style>
      </p:cxnSp>
      <p:sp>
        <p:nvSpPr>
          <p:cNvPr id="44" name="Rectangle 43">
            <a:extLst>
              <a:ext uri="{FF2B5EF4-FFF2-40B4-BE49-F238E27FC236}">
                <a16:creationId xmlns:a16="http://schemas.microsoft.com/office/drawing/2014/main" id="{982EEEA3-0916-B5CE-E6A8-D5A78BD13457}"/>
              </a:ext>
            </a:extLst>
          </p:cNvPr>
          <p:cNvSpPr/>
          <p:nvPr/>
        </p:nvSpPr>
        <p:spPr>
          <a:xfrm>
            <a:off x="147380" y="2807671"/>
            <a:ext cx="3936378" cy="259264"/>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Literature Survey</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47" name="Rectangle 46">
            <a:extLst>
              <a:ext uri="{FF2B5EF4-FFF2-40B4-BE49-F238E27FC236}">
                <a16:creationId xmlns:a16="http://schemas.microsoft.com/office/drawing/2014/main" id="{EE4383E4-38B6-E959-93F7-246A6E427310}"/>
              </a:ext>
            </a:extLst>
          </p:cNvPr>
          <p:cNvSpPr/>
          <p:nvPr/>
        </p:nvSpPr>
        <p:spPr>
          <a:xfrm>
            <a:off x="136027" y="4913393"/>
            <a:ext cx="3971016" cy="277241"/>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Challenges and Considerations</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49" name="TextBox 48">
            <a:extLst>
              <a:ext uri="{FF2B5EF4-FFF2-40B4-BE49-F238E27FC236}">
                <a16:creationId xmlns:a16="http://schemas.microsoft.com/office/drawing/2014/main" id="{5676294A-9284-3842-0739-5145F3792389}"/>
              </a:ext>
            </a:extLst>
          </p:cNvPr>
          <p:cNvSpPr txBox="1"/>
          <p:nvPr/>
        </p:nvSpPr>
        <p:spPr>
          <a:xfrm>
            <a:off x="92199" y="5342898"/>
            <a:ext cx="3963812" cy="1015663"/>
          </a:xfrm>
          <a:prstGeom prst="rect">
            <a:avLst/>
          </a:prstGeom>
          <a:noFill/>
        </p:spPr>
        <p:txBody>
          <a:bodyPr wrap="square">
            <a:spAutoFit/>
          </a:bodyPr>
          <a:lstStyle/>
          <a:p>
            <a:pPr marL="228600" indent="-228600" algn="just">
              <a:buFont typeface="+mj-lt"/>
              <a:buAutoNum type="arabicPeriod"/>
            </a:pPr>
            <a:r>
              <a:rPr lang="en-US" sz="1000" dirty="0"/>
              <a:t>EEG is affected by eye blinks, muscle activity, and power-line interference, requiring careful preprocessing.</a:t>
            </a:r>
          </a:p>
          <a:p>
            <a:pPr marL="228600" indent="-228600" algn="just">
              <a:buFont typeface="+mj-lt"/>
              <a:buAutoNum type="arabicPeriod"/>
            </a:pPr>
            <a:r>
              <a:rPr lang="en-US" sz="1000" dirty="0"/>
              <a:t>Identifying discriminative DSP features (band power, spectral energy, entropy) without ML is challenging.</a:t>
            </a:r>
          </a:p>
          <a:p>
            <a:pPr marL="228600" indent="-228600" algn="just">
              <a:buFont typeface="+mj-lt"/>
              <a:buAutoNum type="arabicPeriod"/>
            </a:pPr>
            <a:r>
              <a:rPr lang="en-US" sz="1000" dirty="0"/>
              <a:t>Algorithms must be computationally efficient for real-time or embedded implementation.</a:t>
            </a:r>
            <a:endParaRPr lang="en-US" sz="1000" dirty="0">
              <a:cs typeface="Times New Roman" panose="02020603050405020304" pitchFamily="18" charset="0"/>
            </a:endParaRPr>
          </a:p>
        </p:txBody>
      </p:sp>
      <p:sp>
        <p:nvSpPr>
          <p:cNvPr id="51" name="Rectangle 50">
            <a:extLst>
              <a:ext uri="{FF2B5EF4-FFF2-40B4-BE49-F238E27FC236}">
                <a16:creationId xmlns:a16="http://schemas.microsoft.com/office/drawing/2014/main" id="{F50490F6-7667-B898-469C-763D17D2D7BC}"/>
              </a:ext>
            </a:extLst>
          </p:cNvPr>
          <p:cNvSpPr/>
          <p:nvPr/>
        </p:nvSpPr>
        <p:spPr>
          <a:xfrm>
            <a:off x="148707" y="6544405"/>
            <a:ext cx="3971016" cy="272419"/>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Problem Definition</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53" name="TextBox 52">
            <a:extLst>
              <a:ext uri="{FF2B5EF4-FFF2-40B4-BE49-F238E27FC236}">
                <a16:creationId xmlns:a16="http://schemas.microsoft.com/office/drawing/2014/main" id="{4F17E9D4-63D8-B353-5174-FE6089CD4EA3}"/>
              </a:ext>
            </a:extLst>
          </p:cNvPr>
          <p:cNvSpPr txBox="1"/>
          <p:nvPr/>
        </p:nvSpPr>
        <p:spPr>
          <a:xfrm>
            <a:off x="174740" y="7008319"/>
            <a:ext cx="3920243" cy="400110"/>
          </a:xfrm>
          <a:prstGeom prst="rect">
            <a:avLst/>
          </a:prstGeom>
          <a:noFill/>
        </p:spPr>
        <p:txBody>
          <a:bodyPr wrap="square">
            <a:spAutoFit/>
          </a:bodyPr>
          <a:lstStyle/>
          <a:p>
            <a:r>
              <a:rPr lang="en-US" sz="1000" dirty="0"/>
              <a:t>Classification of human emotional states from non-stationary and noise-corrupted EEG signals using only digital signal processing techniques.</a:t>
            </a:r>
          </a:p>
        </p:txBody>
      </p:sp>
      <p:sp>
        <p:nvSpPr>
          <p:cNvPr id="54" name="Rectangle 53">
            <a:extLst>
              <a:ext uri="{FF2B5EF4-FFF2-40B4-BE49-F238E27FC236}">
                <a16:creationId xmlns:a16="http://schemas.microsoft.com/office/drawing/2014/main" id="{5843F4A8-F116-951A-03E6-704F5825DE50}"/>
              </a:ext>
            </a:extLst>
          </p:cNvPr>
          <p:cNvSpPr/>
          <p:nvPr/>
        </p:nvSpPr>
        <p:spPr>
          <a:xfrm>
            <a:off x="136104" y="7752928"/>
            <a:ext cx="3971016" cy="277241"/>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Objectives</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57" name="TextBox 56">
            <a:extLst>
              <a:ext uri="{FF2B5EF4-FFF2-40B4-BE49-F238E27FC236}">
                <a16:creationId xmlns:a16="http://schemas.microsoft.com/office/drawing/2014/main" id="{B66B631A-2376-45A0-F56E-4E743055A297}"/>
              </a:ext>
            </a:extLst>
          </p:cNvPr>
          <p:cNvSpPr txBox="1"/>
          <p:nvPr/>
        </p:nvSpPr>
        <p:spPr>
          <a:xfrm>
            <a:off x="139863" y="8305199"/>
            <a:ext cx="3971016" cy="861774"/>
          </a:xfrm>
          <a:prstGeom prst="rect">
            <a:avLst/>
          </a:prstGeom>
          <a:noFill/>
        </p:spPr>
        <p:txBody>
          <a:bodyPr wrap="square" lIns="91440" tIns="45720" rIns="91440" bIns="45720" anchor="t">
            <a:spAutoFit/>
          </a:bodyPr>
          <a:lstStyle/>
          <a:p>
            <a:pPr marL="228600" indent="-228600" algn="just">
              <a:buFont typeface="+mj-lt"/>
              <a:buAutoNum type="arabicPeriod"/>
            </a:pPr>
            <a:r>
              <a:rPr lang="en-US" sz="1000" dirty="0"/>
              <a:t>Noise and artifacts: EEG is affected by eye blinks, muscle activity, and power-line interference, requiring careful preprocessing.</a:t>
            </a:r>
            <a:r>
              <a:rPr lang="en-US" sz="1000" dirty="0">
                <a:cs typeface="Calibri"/>
              </a:rPr>
              <a:t> Design</a:t>
            </a:r>
            <a:r>
              <a:rPr lang="en-US" altLang="en-US" sz="1000" dirty="0">
                <a:cs typeface="Times New Roman"/>
              </a:rPr>
              <a:t> digital filtering techniques to reduce noise from raw EEG signals</a:t>
            </a:r>
            <a:endParaRPr lang="en-IN" altLang="en-US" sz="1000" dirty="0">
              <a:cs typeface="Times New Roman"/>
            </a:endParaRPr>
          </a:p>
          <a:p>
            <a:pPr marL="228600" indent="-228600" algn="just">
              <a:buFont typeface="+mj-lt"/>
              <a:buAutoNum type="arabicPeriod"/>
            </a:pPr>
            <a:r>
              <a:rPr lang="en-IN" altLang="en-US" sz="1000" dirty="0">
                <a:cs typeface="Times New Roman" panose="02020603050405020304" pitchFamily="18" charset="0"/>
              </a:rPr>
              <a:t>Develop algorithms for extracting relevant features from the enhanced EEG signals for arrhythmia identification.</a:t>
            </a:r>
          </a:p>
        </p:txBody>
      </p:sp>
      <p:cxnSp>
        <p:nvCxnSpPr>
          <p:cNvPr id="58" name="Straight Connector 57">
            <a:extLst>
              <a:ext uri="{FF2B5EF4-FFF2-40B4-BE49-F238E27FC236}">
                <a16:creationId xmlns:a16="http://schemas.microsoft.com/office/drawing/2014/main" id="{EF0533E2-0C55-E9AE-A189-FE150B52FF3F}"/>
              </a:ext>
            </a:extLst>
          </p:cNvPr>
          <p:cNvCxnSpPr>
            <a:cxnSpLocks/>
          </p:cNvCxnSpPr>
          <p:nvPr/>
        </p:nvCxnSpPr>
        <p:spPr>
          <a:xfrm>
            <a:off x="8273008" y="1056184"/>
            <a:ext cx="10576" cy="8352928"/>
          </a:xfrm>
          <a:prstGeom prst="line">
            <a:avLst/>
          </a:prstGeom>
          <a:ln>
            <a:solidFill>
              <a:schemeClr val="accent6">
                <a:lumMod val="50000"/>
              </a:schemeClr>
            </a:solidFill>
          </a:ln>
        </p:spPr>
        <p:style>
          <a:lnRef idx="2">
            <a:schemeClr val="accent1"/>
          </a:lnRef>
          <a:fillRef idx="0">
            <a:srgbClr val="FFFFFF"/>
          </a:fillRef>
          <a:effectRef idx="0">
            <a:srgbClr val="FFFFFF"/>
          </a:effectRef>
          <a:fontRef idx="minor">
            <a:schemeClr val="tx1"/>
          </a:fontRef>
        </p:style>
      </p:cxnSp>
      <p:sp>
        <p:nvSpPr>
          <p:cNvPr id="59" name="Rectangle 58">
            <a:extLst>
              <a:ext uri="{FF2B5EF4-FFF2-40B4-BE49-F238E27FC236}">
                <a16:creationId xmlns:a16="http://schemas.microsoft.com/office/drawing/2014/main" id="{9378B95D-3862-5B49-95FB-C4725BF77765}"/>
              </a:ext>
            </a:extLst>
          </p:cNvPr>
          <p:cNvSpPr/>
          <p:nvPr/>
        </p:nvSpPr>
        <p:spPr>
          <a:xfrm>
            <a:off x="4099916" y="1060819"/>
            <a:ext cx="4173091" cy="265586"/>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Block Diagram</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60" name="Rectangle 59">
            <a:extLst>
              <a:ext uri="{FF2B5EF4-FFF2-40B4-BE49-F238E27FC236}">
                <a16:creationId xmlns:a16="http://schemas.microsoft.com/office/drawing/2014/main" id="{E02020D1-D2A9-6059-BD1E-70A07C0A9B8B}"/>
              </a:ext>
            </a:extLst>
          </p:cNvPr>
          <p:cNvSpPr/>
          <p:nvPr/>
        </p:nvSpPr>
        <p:spPr>
          <a:xfrm>
            <a:off x="8281190" y="1056184"/>
            <a:ext cx="4369097" cy="266450"/>
          </a:xfrm>
          <a:prstGeom prst="rect">
            <a:avLst/>
          </a:prstGeom>
          <a:solidFill>
            <a:schemeClr val="accent6">
              <a:lumMod val="40000"/>
              <a:lumOff val="60000"/>
            </a:schemeClr>
          </a:solidFill>
          <a:ln w="6350">
            <a:solidFill>
              <a:schemeClr val="accent6">
                <a:lumMod val="50000"/>
              </a:schemeClr>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Frequency Response of Filter</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62" name="Rectangle 61">
            <a:extLst>
              <a:ext uri="{FF2B5EF4-FFF2-40B4-BE49-F238E27FC236}">
                <a16:creationId xmlns:a16="http://schemas.microsoft.com/office/drawing/2014/main" id="{7D427824-EF62-A10C-6E24-4BADCA998FAF}"/>
              </a:ext>
            </a:extLst>
          </p:cNvPr>
          <p:cNvSpPr/>
          <p:nvPr/>
        </p:nvSpPr>
        <p:spPr>
          <a:xfrm>
            <a:off x="4104727" y="2797839"/>
            <a:ext cx="4176464" cy="274569"/>
          </a:xfrm>
          <a:prstGeom prst="rect">
            <a:avLst/>
          </a:prstGeom>
          <a:solidFill>
            <a:schemeClr val="accent6">
              <a:lumMod val="40000"/>
              <a:lumOff val="60000"/>
            </a:schemeClr>
          </a:solidFill>
          <a:ln w="6350">
            <a:solidFill>
              <a:schemeClr val="accent6">
                <a:lumMod val="50000"/>
              </a:schemeClr>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Signal Characteristics</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63" name="Text Box 1">
            <a:extLst>
              <a:ext uri="{FF2B5EF4-FFF2-40B4-BE49-F238E27FC236}">
                <a16:creationId xmlns:a16="http://schemas.microsoft.com/office/drawing/2014/main" id="{856B9D8F-A231-FBF1-DFAA-AE4F69D5F1FD}"/>
              </a:ext>
            </a:extLst>
          </p:cNvPr>
          <p:cNvSpPr txBox="1"/>
          <p:nvPr/>
        </p:nvSpPr>
        <p:spPr>
          <a:xfrm>
            <a:off x="95705" y="224876"/>
            <a:ext cx="2976656" cy="583084"/>
          </a:xfrm>
          <a:prstGeom prst="rect">
            <a:avLst/>
          </a:prstGeom>
          <a:noFill/>
        </p:spPr>
        <p:txBody>
          <a:bodyPr wrap="square" rtlCol="0" anchor="t">
            <a:noAutofit/>
          </a:bodyPr>
          <a:lstStyle/>
          <a:p>
            <a:pPr lvl="0" algn="ctr">
              <a:lnSpc>
                <a:spcPct val="150000"/>
              </a:lnSpc>
              <a:buClrTx/>
              <a:buSzTx/>
              <a:buFontTx/>
            </a:pPr>
            <a:r>
              <a:rPr lang="en-IN" altLang="en-US" sz="1400" b="1" dirty="0">
                <a:solidFill>
                  <a:srgbClr val="C00000"/>
                </a:solidFill>
                <a:latin typeface="Bookman Old Style" panose="02050604050505020204" pitchFamily="18" charset="0"/>
                <a:sym typeface="+mn-ea"/>
              </a:rPr>
              <a:t>DSP using PBL Approach 2025-2026</a:t>
            </a:r>
          </a:p>
        </p:txBody>
      </p:sp>
      <p:sp>
        <p:nvSpPr>
          <p:cNvPr id="65" name="TextBox 64">
            <a:extLst>
              <a:ext uri="{FF2B5EF4-FFF2-40B4-BE49-F238E27FC236}">
                <a16:creationId xmlns:a16="http://schemas.microsoft.com/office/drawing/2014/main" id="{E0117F15-250A-11F4-8F87-6D6D0AC55747}"/>
              </a:ext>
            </a:extLst>
          </p:cNvPr>
          <p:cNvSpPr txBox="1"/>
          <p:nvPr/>
        </p:nvSpPr>
        <p:spPr>
          <a:xfrm>
            <a:off x="10411759" y="732824"/>
            <a:ext cx="2056374" cy="276999"/>
          </a:xfrm>
          <a:prstGeom prst="rect">
            <a:avLst/>
          </a:prstGeom>
          <a:noFill/>
        </p:spPr>
        <p:txBody>
          <a:bodyPr wrap="square">
            <a:spAutoFit/>
          </a:bodyPr>
          <a:lstStyle/>
          <a:p>
            <a:pPr lvl="0" algn="ctr">
              <a:buClrTx/>
              <a:buSzTx/>
              <a:buFontTx/>
            </a:pPr>
            <a:r>
              <a:rPr lang="en-IN" altLang="en-US" sz="1200" b="1" dirty="0">
                <a:solidFill>
                  <a:srgbClr val="C00000"/>
                </a:solidFill>
                <a:latin typeface="Bookman Old Style" panose="02050604050505020204" pitchFamily="18" charset="0"/>
                <a:sym typeface="+mn-ea"/>
              </a:rPr>
              <a:t>Department of ECE</a:t>
            </a:r>
          </a:p>
        </p:txBody>
      </p:sp>
      <p:sp>
        <p:nvSpPr>
          <p:cNvPr id="66" name="Rectangle 65">
            <a:extLst>
              <a:ext uri="{FF2B5EF4-FFF2-40B4-BE49-F238E27FC236}">
                <a16:creationId xmlns:a16="http://schemas.microsoft.com/office/drawing/2014/main" id="{A6389C34-AF4D-F5E0-64A8-66BDE95D271F}"/>
              </a:ext>
            </a:extLst>
          </p:cNvPr>
          <p:cNvSpPr/>
          <p:nvPr/>
        </p:nvSpPr>
        <p:spPr>
          <a:xfrm>
            <a:off x="8296132" y="6546468"/>
            <a:ext cx="4364176" cy="270356"/>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Inferences and Future Scope</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70" name="TextBox 69">
            <a:extLst>
              <a:ext uri="{FF2B5EF4-FFF2-40B4-BE49-F238E27FC236}">
                <a16:creationId xmlns:a16="http://schemas.microsoft.com/office/drawing/2014/main" id="{989DC4EA-9330-D309-9177-14E28215F205}"/>
              </a:ext>
            </a:extLst>
          </p:cNvPr>
          <p:cNvSpPr txBox="1"/>
          <p:nvPr/>
        </p:nvSpPr>
        <p:spPr>
          <a:xfrm>
            <a:off x="5990977" y="4302408"/>
            <a:ext cx="1855928" cy="220060"/>
          </a:xfrm>
          <a:prstGeom prst="rect">
            <a:avLst/>
          </a:prstGeom>
          <a:noFill/>
        </p:spPr>
        <p:txBody>
          <a:bodyPr wrap="square">
            <a:spAutoFit/>
          </a:bodyPr>
          <a:lstStyle/>
          <a:p>
            <a:r>
              <a:rPr lang="en-US" sz="800" dirty="0">
                <a:cs typeface="Times New Roman" panose="02020603050405020304" pitchFamily="18" charset="0"/>
              </a:rPr>
              <a:t>Fig.2: Raw EEG signal containing noise </a:t>
            </a:r>
            <a:endParaRPr lang="en-IN" sz="800" dirty="0"/>
          </a:p>
        </p:txBody>
      </p:sp>
      <p:sp>
        <p:nvSpPr>
          <p:cNvPr id="74" name="TextBox 73">
            <a:extLst>
              <a:ext uri="{FF2B5EF4-FFF2-40B4-BE49-F238E27FC236}">
                <a16:creationId xmlns:a16="http://schemas.microsoft.com/office/drawing/2014/main" id="{59F7C4DC-C781-9B62-47CB-7C1E341F9131}"/>
              </a:ext>
            </a:extLst>
          </p:cNvPr>
          <p:cNvSpPr txBox="1"/>
          <p:nvPr/>
        </p:nvSpPr>
        <p:spPr>
          <a:xfrm>
            <a:off x="8390329" y="3060472"/>
            <a:ext cx="1335144" cy="220060"/>
          </a:xfrm>
          <a:prstGeom prst="rect">
            <a:avLst/>
          </a:prstGeom>
          <a:noFill/>
        </p:spPr>
        <p:txBody>
          <a:bodyPr wrap="square">
            <a:spAutoFit/>
          </a:bodyPr>
          <a:lstStyle/>
          <a:p>
            <a:r>
              <a:rPr lang="en-IN" altLang="en-US" sz="830" b="1" dirty="0">
                <a:solidFill>
                  <a:srgbClr val="002060"/>
                </a:solidFill>
              </a:rPr>
              <a:t>Frequency domain output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54C3360-C874-64A7-E013-90AEEF01BE0E}"/>
                  </a:ext>
                </a:extLst>
              </p:cNvPr>
              <p:cNvSpPr txBox="1"/>
              <p:nvPr/>
            </p:nvSpPr>
            <p:spPr>
              <a:xfrm>
                <a:off x="4000214" y="5175664"/>
                <a:ext cx="1520229" cy="4387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800" b="0" i="1" smtClean="0">
                          <a:latin typeface="Cambria Math" panose="02040503050406030204"/>
                        </a:rPr>
                        <m:t>𝑋</m:t>
                      </m:r>
                      <m:r>
                        <a:rPr lang="en-IN" sz="800" i="1">
                          <a:latin typeface="Cambria Math" panose="02040503050406030204"/>
                        </a:rPr>
                        <m:t> [</m:t>
                      </m:r>
                      <m:r>
                        <a:rPr lang="en-IN" sz="800" b="0" i="1" smtClean="0">
                          <a:latin typeface="Cambria Math" panose="02040503050406030204"/>
                        </a:rPr>
                        <m:t>𝑘</m:t>
                      </m:r>
                      <m:r>
                        <a:rPr lang="en-IN" sz="800" i="1">
                          <a:latin typeface="Cambria Math" panose="02040503050406030204"/>
                        </a:rPr>
                        <m:t>]=</m:t>
                      </m:r>
                      <m:nary>
                        <m:naryPr>
                          <m:chr m:val="∑"/>
                          <m:ctrlPr>
                            <a:rPr lang="en-IN" sz="800" i="1">
                              <a:latin typeface="Cambria Math" panose="02040503050406030204" pitchFamily="18" charset="0"/>
                            </a:rPr>
                          </m:ctrlPr>
                        </m:naryPr>
                        <m:sub>
                          <m:r>
                            <a:rPr lang="en-IN" sz="800" b="0" i="1" smtClean="0">
                              <a:latin typeface="Cambria Math" panose="02040503050406030204"/>
                            </a:rPr>
                            <m:t>𝑛</m:t>
                          </m:r>
                          <m:r>
                            <a:rPr lang="en-IN" sz="800" i="1">
                              <a:latin typeface="Cambria Math" panose="02040503050406030204"/>
                              <a:ea typeface="Cambria Math" panose="02040503050406030204"/>
                            </a:rPr>
                            <m:t>=0</m:t>
                          </m:r>
                        </m:sub>
                        <m:sup>
                          <m:r>
                            <a:rPr lang="en-IN" sz="800" i="1">
                              <a:latin typeface="Cambria Math" panose="02040503050406030204"/>
                              <a:ea typeface="Cambria Math" panose="02040503050406030204"/>
                            </a:rPr>
                            <m:t>𝑁</m:t>
                          </m:r>
                          <m:r>
                            <a:rPr lang="en-IN" sz="800" i="1">
                              <a:latin typeface="Cambria Math" panose="02040503050406030204"/>
                              <a:ea typeface="Cambria Math" panose="02040503050406030204"/>
                            </a:rPr>
                            <m:t>−1</m:t>
                          </m:r>
                        </m:sup>
                        <m:e>
                          <m:r>
                            <a:rPr lang="en-IN" sz="800" b="0" i="1" smtClean="0">
                              <a:latin typeface="Cambria Math" panose="02040503050406030204"/>
                              <a:ea typeface="Cambria Math" panose="02040503050406030204"/>
                            </a:rPr>
                            <m:t>𝑥</m:t>
                          </m:r>
                          <m:r>
                            <a:rPr lang="en-IN" sz="800" i="1">
                              <a:latin typeface="Cambria Math" panose="02040503050406030204"/>
                            </a:rPr>
                            <m:t>[</m:t>
                          </m:r>
                          <m:r>
                            <a:rPr lang="en-IN" sz="800" b="0" i="1" smtClean="0">
                              <a:latin typeface="Cambria Math" panose="02040503050406030204"/>
                            </a:rPr>
                            <m:t>𝑛</m:t>
                          </m:r>
                          <m:r>
                            <a:rPr lang="en-IN" sz="800" i="1">
                              <a:latin typeface="Cambria Math" panose="02040503050406030204"/>
                            </a:rPr>
                            <m:t>] </m:t>
                          </m:r>
                          <m:sSup>
                            <m:sSupPr>
                              <m:ctrlPr>
                                <a:rPr lang="en-IN" sz="800" i="1">
                                  <a:latin typeface="Cambria Math" panose="02040503050406030204" pitchFamily="18" charset="0"/>
                                  <a:ea typeface="Cambria Math" panose="02040503050406030204"/>
                                </a:rPr>
                              </m:ctrlPr>
                            </m:sSupPr>
                            <m:e>
                              <m:r>
                                <a:rPr lang="en-IN" sz="800" i="1">
                                  <a:latin typeface="Cambria Math" panose="02040503050406030204"/>
                                  <a:ea typeface="Cambria Math" panose="02040503050406030204"/>
                                </a:rPr>
                                <m:t>𝑒</m:t>
                              </m:r>
                            </m:e>
                            <m:sup>
                              <m:r>
                                <a:rPr lang="en-IN" sz="800" b="0" i="1" smtClean="0">
                                  <a:latin typeface="Cambria Math" panose="02040503050406030204"/>
                                  <a:ea typeface="Cambria Math" panose="02040503050406030204"/>
                                </a:rPr>
                                <m:t>−</m:t>
                              </m:r>
                              <m:r>
                                <a:rPr lang="en-IN" sz="800" i="1">
                                  <a:latin typeface="Cambria Math" panose="02040503050406030204"/>
                                  <a:ea typeface="Cambria Math" panose="02040503050406030204"/>
                                </a:rPr>
                                <m:t>𝑗</m:t>
                              </m:r>
                              <m:f>
                                <m:fPr>
                                  <m:ctrlPr>
                                    <a:rPr lang="en-US" sz="800" i="1">
                                      <a:latin typeface="Cambria Math" panose="02040503050406030204" pitchFamily="18" charset="0"/>
                                    </a:rPr>
                                  </m:ctrlPr>
                                </m:fPr>
                                <m:num>
                                  <m:r>
                                    <a:rPr lang="en-IN" sz="800" i="1">
                                      <a:latin typeface="Cambria Math" panose="02040503050406030204"/>
                                    </a:rPr>
                                    <m:t>2</m:t>
                                  </m:r>
                                  <m:r>
                                    <a:rPr lang="en-IN" sz="800" i="1">
                                      <a:latin typeface="Cambria Math" panose="02040503050406030204"/>
                                      <a:ea typeface="Cambria Math" panose="02040503050406030204"/>
                                    </a:rPr>
                                    <m:t>𝜋</m:t>
                                  </m:r>
                                  <m:r>
                                    <a:rPr lang="en-IN" sz="800" i="1">
                                      <a:latin typeface="Cambria Math" panose="02040503050406030204"/>
                                      <a:ea typeface="Cambria Math" panose="02040503050406030204"/>
                                    </a:rPr>
                                    <m:t>𝑘𝑛</m:t>
                                  </m:r>
                                </m:num>
                                <m:den>
                                  <m:r>
                                    <a:rPr lang="en-IN" sz="800" i="1">
                                      <a:latin typeface="Cambria Math" panose="02040503050406030204"/>
                                    </a:rPr>
                                    <m:t>𝑁</m:t>
                                  </m:r>
                                </m:den>
                              </m:f>
                            </m:sup>
                          </m:sSup>
                        </m:e>
                      </m:nary>
                    </m:oMath>
                  </m:oMathPara>
                </a14:m>
                <a:endParaRPr lang="en-IN" sz="800" dirty="0"/>
              </a:p>
            </p:txBody>
          </p:sp>
        </mc:Choice>
        <mc:Fallback xmlns="">
          <p:sp>
            <p:nvSpPr>
              <p:cNvPr id="77" name="TextBox 76">
                <a:extLst>
                  <a:ext uri="{FF2B5EF4-FFF2-40B4-BE49-F238E27FC236}">
                    <a16:creationId xmlns:a16="http://schemas.microsoft.com/office/drawing/2014/main" id="{354C3360-C874-64A7-E013-90AEEF01BE0E}"/>
                  </a:ext>
                </a:extLst>
              </p:cNvPr>
              <p:cNvSpPr txBox="1">
                <a:spLocks noRot="1" noChangeAspect="1" noMove="1" noResize="1" noEditPoints="1" noAdjustHandles="1" noChangeArrowheads="1" noChangeShapeType="1" noTextEdit="1"/>
              </p:cNvSpPr>
              <p:nvPr/>
            </p:nvSpPr>
            <p:spPr>
              <a:xfrm>
                <a:off x="4000214" y="5175664"/>
                <a:ext cx="1520229" cy="438710"/>
              </a:xfrm>
              <a:prstGeom prst="rect">
                <a:avLst/>
              </a:prstGeom>
              <a:blipFill>
                <a:blip r:embed="rId9"/>
                <a:stretch>
                  <a:fillRect t="-81944" b="-130556"/>
                </a:stretch>
              </a:blipFill>
            </p:spPr>
            <p:txBody>
              <a:bodyPr/>
              <a:lstStyle/>
              <a:p>
                <a:r>
                  <a:rPr lang="en-IN">
                    <a:noFill/>
                  </a:rPr>
                  <a:t> </a:t>
                </a:r>
              </a:p>
            </p:txBody>
          </p:sp>
        </mc:Fallback>
      </mc:AlternateContent>
      <p:sp>
        <p:nvSpPr>
          <p:cNvPr id="78" name="TextBox 77">
            <a:extLst>
              <a:ext uri="{FF2B5EF4-FFF2-40B4-BE49-F238E27FC236}">
                <a16:creationId xmlns:a16="http://schemas.microsoft.com/office/drawing/2014/main" id="{76A640D3-D973-55F2-FC45-939F909EDB1A}"/>
              </a:ext>
            </a:extLst>
          </p:cNvPr>
          <p:cNvSpPr txBox="1"/>
          <p:nvPr/>
        </p:nvSpPr>
        <p:spPr>
          <a:xfrm>
            <a:off x="5537184" y="5717541"/>
            <a:ext cx="2766035" cy="347788"/>
          </a:xfrm>
          <a:prstGeom prst="rect">
            <a:avLst/>
          </a:prstGeom>
          <a:noFill/>
        </p:spPr>
        <p:txBody>
          <a:bodyPr wrap="square">
            <a:spAutoFit/>
          </a:bodyPr>
          <a:lstStyle/>
          <a:p>
            <a:r>
              <a:rPr lang="en-US" sz="830" dirty="0">
                <a:cs typeface="Times New Roman" panose="02020603050405020304" pitchFamily="18" charset="0"/>
              </a:rPr>
              <a:t>Fig.3: Frequency spectrum of the Raw EEG signal containing noise </a:t>
            </a:r>
            <a:endParaRPr lang="en-IN" sz="830" dirty="0"/>
          </a:p>
        </p:txBody>
      </p:sp>
      <p:sp>
        <p:nvSpPr>
          <p:cNvPr id="79" name="Rectangle 78">
            <a:extLst>
              <a:ext uri="{FF2B5EF4-FFF2-40B4-BE49-F238E27FC236}">
                <a16:creationId xmlns:a16="http://schemas.microsoft.com/office/drawing/2014/main" id="{88796120-CF94-2519-6309-AADB558B501E}"/>
              </a:ext>
            </a:extLst>
          </p:cNvPr>
          <p:cNvSpPr/>
          <p:nvPr/>
        </p:nvSpPr>
        <p:spPr>
          <a:xfrm>
            <a:off x="4107043" y="6550374"/>
            <a:ext cx="4171832" cy="266450"/>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IN" sz="1108" b="1" dirty="0">
                <a:gradFill>
                  <a:gsLst>
                    <a:gs pos="0">
                      <a:srgbClr val="012D86"/>
                    </a:gs>
                    <a:gs pos="100000">
                      <a:srgbClr val="0E2557"/>
                    </a:gs>
                  </a:gsLst>
                  <a:lin scaled="0"/>
                </a:gradFill>
                <a:latin typeface="Bookman Old Style" panose="02050604050505020204" pitchFamily="18" charset="0"/>
              </a:rPr>
              <a:t>Filter Design</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81" name="TextBox 80">
            <a:extLst>
              <a:ext uri="{FF2B5EF4-FFF2-40B4-BE49-F238E27FC236}">
                <a16:creationId xmlns:a16="http://schemas.microsoft.com/office/drawing/2014/main" id="{D4FE61EA-BFA6-654A-268A-F8185919768D}"/>
              </a:ext>
            </a:extLst>
          </p:cNvPr>
          <p:cNvSpPr txBox="1"/>
          <p:nvPr/>
        </p:nvSpPr>
        <p:spPr>
          <a:xfrm>
            <a:off x="4113241" y="6818032"/>
            <a:ext cx="3943743" cy="707886"/>
          </a:xfrm>
          <a:prstGeom prst="rect">
            <a:avLst/>
          </a:prstGeom>
          <a:noFill/>
        </p:spPr>
        <p:txBody>
          <a:bodyPr wrap="square" lIns="91440" tIns="45720" rIns="91440" bIns="45720" anchor="t">
            <a:spAutoFit/>
          </a:bodyPr>
          <a:lstStyle/>
          <a:p>
            <a:pPr marL="171450" indent="-171450" algn="just">
              <a:buFont typeface="Courier New" panose="02070309020205020404" pitchFamily="49" charset="0"/>
              <a:buChar char="o"/>
            </a:pPr>
            <a:r>
              <a:rPr lang="en-IN" sz="1000" dirty="0">
                <a:cs typeface="Arial"/>
              </a:rPr>
              <a:t>Concept Mapping</a:t>
            </a:r>
            <a:r>
              <a:rPr lang="en-IN" sz="1000" dirty="0">
                <a:latin typeface="Arial"/>
                <a:cs typeface="Arial"/>
              </a:rPr>
              <a:t>: </a:t>
            </a:r>
            <a:r>
              <a:rPr lang="en-IN" sz="1000" dirty="0">
                <a:ea typeface="+mn-lt"/>
                <a:cs typeface="+mn-lt"/>
              </a:rPr>
              <a:t>To isolate EEG frequency bands relevant for emotion classification.</a:t>
            </a:r>
            <a:endParaRPr lang="en-US" dirty="0">
              <a:latin typeface="Calibri"/>
              <a:ea typeface="Calibri"/>
              <a:cs typeface="Times New Roman"/>
            </a:endParaRPr>
          </a:p>
          <a:p>
            <a:pPr marL="171450" indent="-171450" algn="just">
              <a:buFont typeface="Courier New" panose="02070309020205020404" pitchFamily="49" charset="0"/>
              <a:buChar char="o"/>
            </a:pPr>
            <a:r>
              <a:rPr lang="en-IN" sz="1000" dirty="0">
                <a:latin typeface="Calibri"/>
                <a:ea typeface="Calibri"/>
                <a:cs typeface="Times New Roman"/>
              </a:rPr>
              <a:t>Identified</a:t>
            </a:r>
            <a:r>
              <a:rPr lang="en-IN" sz="1000" dirty="0">
                <a:cs typeface="Times New Roman"/>
              </a:rPr>
              <a:t> Filter: </a:t>
            </a:r>
            <a:r>
              <a:rPr lang="en-IN" sz="1000" dirty="0">
                <a:ea typeface="+mn-lt"/>
                <a:cs typeface="+mn-lt"/>
              </a:rPr>
              <a:t>IIR Butterworth Bandpass Filter.</a:t>
            </a:r>
            <a:endParaRPr lang="en-IN" altLang="en-US" sz="1000" dirty="0">
              <a:ea typeface="Calibri"/>
              <a:cs typeface="Times New Roman"/>
            </a:endParaRPr>
          </a:p>
          <a:p>
            <a:pPr algn="just"/>
            <a:r>
              <a:rPr lang="en-IN" sz="1000" b="1" dirty="0">
                <a:cs typeface="Times New Roman" panose="02020603050405020304" pitchFamily="18" charset="0"/>
              </a:rPr>
              <a:t>Design Parameters:</a:t>
            </a:r>
          </a:p>
        </p:txBody>
      </p:sp>
      <p:graphicFrame>
        <p:nvGraphicFramePr>
          <p:cNvPr id="82" name="Table 81">
            <a:extLst>
              <a:ext uri="{FF2B5EF4-FFF2-40B4-BE49-F238E27FC236}">
                <a16:creationId xmlns:a16="http://schemas.microsoft.com/office/drawing/2014/main" id="{8E3AA08C-A425-DE8C-A5AD-7E166054E210}"/>
              </a:ext>
            </a:extLst>
          </p:cNvPr>
          <p:cNvGraphicFramePr/>
          <p:nvPr>
            <p:extLst>
              <p:ext uri="{D42A27DB-BD31-4B8C-83A1-F6EECF244321}">
                <p14:modId xmlns:p14="http://schemas.microsoft.com/office/powerpoint/2010/main" val="519765404"/>
              </p:ext>
            </p:extLst>
          </p:nvPr>
        </p:nvGraphicFramePr>
        <p:xfrm>
          <a:off x="4142323" y="7513982"/>
          <a:ext cx="4078577" cy="792530"/>
        </p:xfrm>
        <a:graphic>
          <a:graphicData uri="http://schemas.openxmlformats.org/drawingml/2006/table">
            <a:tbl>
              <a:tblPr firstRow="1" bandRow="1">
                <a:tableStyleId>{E8B1032C-EA38-4F05-BA0D-38AFFFC7BED3}</a:tableStyleId>
              </a:tblPr>
              <a:tblGrid>
                <a:gridCol w="956739">
                  <a:extLst>
                    <a:ext uri="{9D8B030D-6E8A-4147-A177-3AD203B41FA5}">
                      <a16:colId xmlns:a16="http://schemas.microsoft.com/office/drawing/2014/main" val="20000"/>
                    </a:ext>
                  </a:extLst>
                </a:gridCol>
                <a:gridCol w="968594">
                  <a:extLst>
                    <a:ext uri="{9D8B030D-6E8A-4147-A177-3AD203B41FA5}">
                      <a16:colId xmlns:a16="http://schemas.microsoft.com/office/drawing/2014/main" val="20001"/>
                    </a:ext>
                  </a:extLst>
                </a:gridCol>
                <a:gridCol w="726446">
                  <a:extLst>
                    <a:ext uri="{9D8B030D-6E8A-4147-A177-3AD203B41FA5}">
                      <a16:colId xmlns:a16="http://schemas.microsoft.com/office/drawing/2014/main" val="20002"/>
                    </a:ext>
                  </a:extLst>
                </a:gridCol>
                <a:gridCol w="713399">
                  <a:extLst>
                    <a:ext uri="{9D8B030D-6E8A-4147-A177-3AD203B41FA5}">
                      <a16:colId xmlns:a16="http://schemas.microsoft.com/office/drawing/2014/main" val="20003"/>
                    </a:ext>
                  </a:extLst>
                </a:gridCol>
                <a:gridCol w="713399">
                  <a:extLst>
                    <a:ext uri="{9D8B030D-6E8A-4147-A177-3AD203B41FA5}">
                      <a16:colId xmlns:a16="http://schemas.microsoft.com/office/drawing/2014/main" val="1978656923"/>
                    </a:ext>
                  </a:extLst>
                </a:gridCol>
              </a:tblGrid>
              <a:tr h="454906">
                <a:tc>
                  <a:txBody>
                    <a:bodyPr/>
                    <a:lstStyle/>
                    <a:p>
                      <a:pPr marL="0" algn="ctr" defTabSz="1280160" rtl="0" eaLnBrk="1" latinLnBrk="0" hangingPunct="1">
                        <a:buNone/>
                      </a:pPr>
                      <a:r>
                        <a:rPr lang="en-IN" altLang="en-US" sz="800" kern="1200" dirty="0"/>
                        <a:t>Passband edge frequencies </a:t>
                      </a:r>
                    </a:p>
                    <a:p>
                      <a:pPr marL="0" algn="ctr" defTabSz="1280160" rtl="0" eaLnBrk="1" latinLnBrk="0" hangingPunct="1">
                        <a:buNone/>
                      </a:pPr>
                      <a:r>
                        <a:rPr lang="en-IN" altLang="en-US" sz="800" kern="1200" dirty="0"/>
                        <a:t>(Hz)</a:t>
                      </a:r>
                      <a:endParaRPr lang="en-IN" altLang="en-US" sz="800" b="1" kern="1200" dirty="0">
                        <a:solidFill>
                          <a:schemeClr val="tx1"/>
                        </a:solidFill>
                        <a:latin typeface="+mn-lt"/>
                        <a:ea typeface="+mn-ea"/>
                        <a:cs typeface="+mn-cs"/>
                      </a:endParaRPr>
                    </a:p>
                  </a:txBody>
                  <a:tcPr marL="63305" marR="63305" marT="31652" marB="31652"/>
                </a:tc>
                <a:tc>
                  <a:txBody>
                    <a:bodyPr/>
                    <a:lstStyle/>
                    <a:p>
                      <a:pPr marL="0" algn="ctr" defTabSz="1280160" rtl="0" eaLnBrk="1" latinLnBrk="0" hangingPunct="1">
                        <a:buNone/>
                      </a:pPr>
                      <a:r>
                        <a:rPr lang="en-IN" altLang="en-US" sz="800" kern="1200" dirty="0"/>
                        <a:t>Stopband edge frequencies </a:t>
                      </a:r>
                    </a:p>
                    <a:p>
                      <a:pPr marL="0" algn="ctr" defTabSz="1280160" rtl="0" eaLnBrk="1" latinLnBrk="0" hangingPunct="1">
                        <a:buNone/>
                      </a:pPr>
                      <a:r>
                        <a:rPr lang="en-IN" altLang="en-US" sz="800" kern="1200" dirty="0"/>
                        <a:t>(Hz)</a:t>
                      </a:r>
                      <a:endParaRPr lang="en-IN" altLang="en-US" sz="800" b="1" kern="1200" dirty="0">
                        <a:solidFill>
                          <a:schemeClr val="tx1"/>
                        </a:solidFill>
                        <a:latin typeface="+mn-lt"/>
                        <a:ea typeface="+mn-ea"/>
                        <a:cs typeface="+mn-cs"/>
                      </a:endParaRPr>
                    </a:p>
                  </a:txBody>
                  <a:tcPr marL="63305" marR="63305" marT="31652" marB="31652"/>
                </a:tc>
                <a:tc>
                  <a:txBody>
                    <a:bodyPr/>
                    <a:lstStyle/>
                    <a:p>
                      <a:pPr marL="0" algn="ctr" defTabSz="1280160" rtl="0" eaLnBrk="1" latinLnBrk="0" hangingPunct="1">
                        <a:buNone/>
                      </a:pPr>
                      <a:r>
                        <a:rPr lang="en-IN" altLang="en-US" sz="800" kern="1200" dirty="0"/>
                        <a:t>Passband gain </a:t>
                      </a:r>
                    </a:p>
                    <a:p>
                      <a:pPr marL="0" algn="ctr" defTabSz="1280160" rtl="0" eaLnBrk="1" latinLnBrk="0" hangingPunct="1">
                        <a:buNone/>
                      </a:pPr>
                      <a:r>
                        <a:rPr lang="en-IN" altLang="en-US" sz="800" kern="1200" dirty="0"/>
                        <a:t>(dB)</a:t>
                      </a:r>
                      <a:endParaRPr lang="en-IN" altLang="en-US" sz="800" b="1" kern="1200" dirty="0">
                        <a:solidFill>
                          <a:schemeClr val="tx1"/>
                        </a:solidFill>
                        <a:latin typeface="+mn-lt"/>
                        <a:ea typeface="+mn-ea"/>
                        <a:cs typeface="+mn-cs"/>
                      </a:endParaRPr>
                    </a:p>
                  </a:txBody>
                  <a:tcPr marL="63305" marR="63305" marT="31652" marB="31652"/>
                </a:tc>
                <a:tc>
                  <a:txBody>
                    <a:bodyPr/>
                    <a:lstStyle/>
                    <a:p>
                      <a:pPr marL="0" algn="ctr" defTabSz="1280160" rtl="0" eaLnBrk="1" latinLnBrk="0" hangingPunct="1">
                        <a:buNone/>
                      </a:pPr>
                      <a:r>
                        <a:rPr lang="en-IN" altLang="en-US" sz="800" kern="1200" dirty="0"/>
                        <a:t>Stopband gain </a:t>
                      </a:r>
                    </a:p>
                    <a:p>
                      <a:pPr marL="0" algn="ctr" defTabSz="1280160" rtl="0" eaLnBrk="1" latinLnBrk="0" hangingPunct="1">
                        <a:buNone/>
                      </a:pPr>
                      <a:r>
                        <a:rPr lang="en-IN" altLang="en-US" sz="800" kern="1200" dirty="0"/>
                        <a:t>(dB)</a:t>
                      </a:r>
                      <a:endParaRPr lang="en-IN" altLang="en-US" sz="800" b="1" kern="1200" dirty="0">
                        <a:solidFill>
                          <a:schemeClr val="tx1"/>
                        </a:solidFill>
                        <a:latin typeface="+mn-lt"/>
                        <a:ea typeface="+mn-ea"/>
                        <a:cs typeface="+mn-cs"/>
                      </a:endParaRPr>
                    </a:p>
                  </a:txBody>
                  <a:tcPr marL="63305" marR="63305" marT="31652" marB="31652"/>
                </a:tc>
                <a:tc>
                  <a:txBody>
                    <a:bodyPr/>
                    <a:lstStyle/>
                    <a:p>
                      <a:pPr marL="0" algn="ctr" defTabSz="1280160" rtl="0" eaLnBrk="1" latinLnBrk="0" hangingPunct="1">
                        <a:buNone/>
                      </a:pPr>
                      <a:r>
                        <a:rPr lang="en-IN" altLang="en-US" sz="800" kern="1200" dirty="0"/>
                        <a:t>Filter order </a:t>
                      </a:r>
                    </a:p>
                    <a:p>
                      <a:pPr marL="0" algn="ctr" defTabSz="1280160" rtl="0" eaLnBrk="1" latinLnBrk="0" hangingPunct="1">
                        <a:buNone/>
                      </a:pPr>
                      <a:r>
                        <a:rPr lang="en-IN" altLang="en-US" sz="800" kern="1200"/>
                        <a:t>N</a:t>
                      </a:r>
                      <a:endParaRPr lang="en-IN" altLang="en-US" sz="800" b="1" kern="1200" dirty="0">
                        <a:solidFill>
                          <a:schemeClr val="tx1"/>
                        </a:solidFill>
                        <a:latin typeface="+mn-lt"/>
                        <a:ea typeface="+mn-ea"/>
                        <a:cs typeface="+mn-cs"/>
                      </a:endParaRPr>
                    </a:p>
                  </a:txBody>
                  <a:tcPr marL="63305" marR="63305" marT="31652" marB="31652"/>
                </a:tc>
                <a:extLst>
                  <a:ext uri="{0D108BD9-81ED-4DB2-BD59-A6C34878D82A}">
                    <a16:rowId xmlns:a16="http://schemas.microsoft.com/office/drawing/2014/main" val="10000"/>
                  </a:ext>
                </a:extLst>
              </a:tr>
              <a:tr h="147711">
                <a:tc>
                  <a:txBody>
                    <a:bodyPr/>
                    <a:lstStyle/>
                    <a:p>
                      <a:pPr algn="ctr">
                        <a:buNone/>
                      </a:pPr>
                      <a:r>
                        <a:rPr lang="en-US" sz="800" dirty="0"/>
                        <a:t>4-45</a:t>
                      </a:r>
                    </a:p>
                    <a:p>
                      <a:pPr algn="ctr">
                        <a:buNone/>
                      </a:pPr>
                      <a:endParaRPr lang="en-US" sz="500" dirty="0"/>
                    </a:p>
                    <a:p>
                      <a:pPr algn="ctr">
                        <a:buNone/>
                      </a:pPr>
                      <a:endParaRPr lang="en-US" sz="500" dirty="0"/>
                    </a:p>
                  </a:txBody>
                  <a:tcPr marL="63305" marR="63305" marT="31652" marB="31652"/>
                </a:tc>
                <a:tc>
                  <a:txBody>
                    <a:bodyPr/>
                    <a:lstStyle/>
                    <a:p>
                      <a:pPr lvl="0" algn="ctr">
                        <a:buNone/>
                      </a:pPr>
                      <a:r>
                        <a:rPr lang="en-US" sz="800" b="0" i="0" u="none" strike="noStrike" noProof="0" dirty="0">
                          <a:latin typeface="Calibri"/>
                        </a:rPr>
                        <a:t>&lt; 3 Hz and &gt; 50 Hz</a:t>
                      </a:r>
                      <a:endParaRPr lang="en-US" sz="800" dirty="0"/>
                    </a:p>
                  </a:txBody>
                  <a:tcPr marL="63305" marR="63305" marT="31652" marB="31652"/>
                </a:tc>
                <a:tc>
                  <a:txBody>
                    <a:bodyPr/>
                    <a:lstStyle/>
                    <a:p>
                      <a:pPr lvl="0" algn="ctr">
                        <a:buNone/>
                      </a:pPr>
                      <a:r>
                        <a:rPr lang="en-US" sz="900" b="0" i="0" u="none" strike="noStrike" noProof="0" dirty="0">
                          <a:latin typeface="Calibri"/>
                        </a:rPr>
                        <a:t>0 </a:t>
                      </a:r>
                      <a:endParaRPr lang="en-US" sz="900" dirty="0"/>
                    </a:p>
                  </a:txBody>
                  <a:tcPr marL="63305" marR="63305" marT="31652" marB="31652"/>
                </a:tc>
                <a:tc>
                  <a:txBody>
                    <a:bodyPr/>
                    <a:lstStyle/>
                    <a:p>
                      <a:pPr lvl="0" algn="ctr">
                        <a:buNone/>
                      </a:pPr>
                      <a:r>
                        <a:rPr lang="en-US" sz="800"/>
                        <a:t>&lt;= -20 </a:t>
                      </a:r>
                      <a:r>
                        <a:rPr lang="en-US" sz="800" dirty="0"/>
                        <a:t>db</a:t>
                      </a:r>
                    </a:p>
                  </a:txBody>
                  <a:tcPr marL="63305" marR="63305" marT="31652" marB="31652"/>
                </a:tc>
                <a:tc>
                  <a:txBody>
                    <a:bodyPr/>
                    <a:lstStyle/>
                    <a:p>
                      <a:pPr algn="ctr">
                        <a:buNone/>
                      </a:pPr>
                      <a:r>
                        <a:rPr lang="en-US" sz="800" dirty="0"/>
                        <a:t>10</a:t>
                      </a:r>
                    </a:p>
                  </a:txBody>
                  <a:tcPr marL="63305" marR="63305" marT="31652" marB="31652"/>
                </a:tc>
                <a:extLst>
                  <a:ext uri="{0D108BD9-81ED-4DB2-BD59-A6C34878D82A}">
                    <a16:rowId xmlns:a16="http://schemas.microsoft.com/office/drawing/2014/main" val="10001"/>
                  </a:ext>
                </a:extLst>
              </a:tr>
            </a:tbl>
          </a:graphicData>
        </a:graphic>
      </p:graphicFrame>
      <p:sp>
        <p:nvSpPr>
          <p:cNvPr id="87" name="TextBox 86">
            <a:extLst>
              <a:ext uri="{FF2B5EF4-FFF2-40B4-BE49-F238E27FC236}">
                <a16:creationId xmlns:a16="http://schemas.microsoft.com/office/drawing/2014/main" id="{81E03864-51B3-DA69-C00F-25344765CF77}"/>
              </a:ext>
            </a:extLst>
          </p:cNvPr>
          <p:cNvSpPr txBox="1"/>
          <p:nvPr/>
        </p:nvSpPr>
        <p:spPr>
          <a:xfrm>
            <a:off x="4148406" y="9083530"/>
            <a:ext cx="2005799" cy="230832"/>
          </a:xfrm>
          <a:prstGeom prst="rect">
            <a:avLst/>
          </a:prstGeom>
          <a:noFill/>
        </p:spPr>
        <p:txBody>
          <a:bodyPr wrap="square">
            <a:spAutoFit/>
          </a:bodyPr>
          <a:lstStyle/>
          <a:p>
            <a:pPr algn="ctr">
              <a:buClrTx/>
              <a:buSzTx/>
              <a:buFontTx/>
            </a:pPr>
            <a:r>
              <a:rPr lang="en-IN" sz="900" dirty="0"/>
              <a:t>Digital Butterworth Transfer Function:</a:t>
            </a:r>
            <a:endParaRPr lang="en-IN" altLang="en-US" sz="830" dirty="0">
              <a:gradFill>
                <a:gsLst>
                  <a:gs pos="0">
                    <a:srgbClr val="012D86"/>
                  </a:gs>
                  <a:gs pos="100000">
                    <a:srgbClr val="0E2557"/>
                  </a:gs>
                </a:gsLst>
                <a:lin scaled="0"/>
              </a:gradFill>
              <a:latin typeface="Bookman Old Style" panose="02050604050505020204" pitchFamily="18" charset="0"/>
            </a:endParaRPr>
          </a:p>
        </p:txBody>
      </p:sp>
      <p:sp>
        <p:nvSpPr>
          <p:cNvPr id="88" name="TextBox 87">
            <a:extLst>
              <a:ext uri="{FF2B5EF4-FFF2-40B4-BE49-F238E27FC236}">
                <a16:creationId xmlns:a16="http://schemas.microsoft.com/office/drawing/2014/main" id="{8E94A4BD-7A84-C8F4-5750-1A555C01CF54}"/>
              </a:ext>
            </a:extLst>
          </p:cNvPr>
          <p:cNvSpPr txBox="1"/>
          <p:nvPr/>
        </p:nvSpPr>
        <p:spPr>
          <a:xfrm>
            <a:off x="4203450" y="8780672"/>
            <a:ext cx="1992637" cy="230832"/>
          </a:xfrm>
          <a:prstGeom prst="rect">
            <a:avLst/>
          </a:prstGeom>
          <a:noFill/>
        </p:spPr>
        <p:txBody>
          <a:bodyPr wrap="square">
            <a:spAutoFit/>
          </a:bodyPr>
          <a:lstStyle/>
          <a:p>
            <a:pPr algn="ctr">
              <a:buClrTx/>
              <a:buSzTx/>
              <a:buFontTx/>
            </a:pPr>
            <a:r>
              <a:rPr lang="en-IN" sz="900" dirty="0"/>
              <a:t>Bandpass Frequency Transformation:</a:t>
            </a:r>
            <a:endParaRPr lang="en-IN" altLang="en-US" sz="830" dirty="0">
              <a:gradFill>
                <a:gsLst>
                  <a:gs pos="0">
                    <a:srgbClr val="012D86"/>
                  </a:gs>
                  <a:gs pos="100000">
                    <a:srgbClr val="0E2557"/>
                  </a:gs>
                </a:gsLst>
                <a:lin scaled="0"/>
              </a:gradFill>
              <a:latin typeface="Bookman Old Style" panose="02050604050505020204" pitchFamily="18" charset="0"/>
            </a:endParaRPr>
          </a:p>
        </p:txBody>
      </p:sp>
      <p:sp>
        <p:nvSpPr>
          <p:cNvPr id="89" name="TextBox 88">
            <a:extLst>
              <a:ext uri="{FF2B5EF4-FFF2-40B4-BE49-F238E27FC236}">
                <a16:creationId xmlns:a16="http://schemas.microsoft.com/office/drawing/2014/main" id="{1B2CBDD6-B1B3-920A-C5E3-F1797D16E8C4}"/>
              </a:ext>
            </a:extLst>
          </p:cNvPr>
          <p:cNvSpPr txBox="1"/>
          <p:nvPr/>
        </p:nvSpPr>
        <p:spPr>
          <a:xfrm>
            <a:off x="4165523" y="8430661"/>
            <a:ext cx="1868835" cy="230832"/>
          </a:xfrm>
          <a:prstGeom prst="rect">
            <a:avLst/>
          </a:prstGeom>
          <a:noFill/>
        </p:spPr>
        <p:txBody>
          <a:bodyPr wrap="square">
            <a:spAutoFit/>
          </a:bodyPr>
          <a:lstStyle/>
          <a:p>
            <a:pPr algn="ctr">
              <a:buClrTx/>
              <a:buSzTx/>
              <a:buFontTx/>
            </a:pPr>
            <a:r>
              <a:rPr lang="en-IN" sz="900" dirty="0"/>
              <a:t>Butterworth Magnitude Response:</a:t>
            </a:r>
            <a:endParaRPr lang="en-IN" altLang="en-US" sz="830" dirty="0">
              <a:gradFill>
                <a:gsLst>
                  <a:gs pos="0">
                    <a:srgbClr val="012D86"/>
                  </a:gs>
                  <a:gs pos="100000">
                    <a:srgbClr val="0E2557"/>
                  </a:gs>
                </a:gsLst>
                <a:lin scaled="0"/>
              </a:gradFill>
              <a:latin typeface="Bookman Old Style" panose="02050604050505020204" pitchFamily="18" charset="0"/>
            </a:endParaRPr>
          </a:p>
        </p:txBody>
      </p:sp>
      <p:sp>
        <p:nvSpPr>
          <p:cNvPr id="93" name="Rectangle 92">
            <a:extLst>
              <a:ext uri="{FF2B5EF4-FFF2-40B4-BE49-F238E27FC236}">
                <a16:creationId xmlns:a16="http://schemas.microsoft.com/office/drawing/2014/main" id="{64262195-5F50-56B9-EC8F-A86CAA6F069B}"/>
              </a:ext>
            </a:extLst>
          </p:cNvPr>
          <p:cNvSpPr/>
          <p:nvPr/>
        </p:nvSpPr>
        <p:spPr>
          <a:xfrm>
            <a:off x="8289372" y="2796502"/>
            <a:ext cx="4360913" cy="277241"/>
          </a:xfrm>
          <a:prstGeom prst="rect">
            <a:avLst/>
          </a:prstGeom>
          <a:solidFill>
            <a:schemeClr val="accent6">
              <a:lumMod val="40000"/>
              <a:lumOff val="60000"/>
            </a:schemeClr>
          </a:solidFill>
          <a:ln w="6350">
            <a:solidFill>
              <a:srgbClr val="002060"/>
            </a:solidFill>
          </a:ln>
          <a:scene3d>
            <a:camera prst="orthographicFront"/>
            <a:lightRig rig="threePt" dir="t"/>
          </a:scene3d>
          <a:sp3d>
            <a:bevelT/>
          </a:sp3d>
        </p:spPr>
        <p:txBody>
          <a:bodyPr wrap="square">
            <a:noAutofit/>
          </a:bodyPr>
          <a:lstStyle/>
          <a:p>
            <a:pPr algn="ctr"/>
            <a:r>
              <a:rPr lang="en-US" sz="923" dirty="0">
                <a:gradFill>
                  <a:gsLst>
                    <a:gs pos="0">
                      <a:srgbClr val="012D86"/>
                    </a:gs>
                    <a:gs pos="100000">
                      <a:srgbClr val="0E2557"/>
                    </a:gs>
                  </a:gsLst>
                  <a:lin scaled="0"/>
                </a:gradFill>
                <a:latin typeface="Bookman Old Style" panose="02050604050505020204" pitchFamily="18" charset="0"/>
              </a:rPr>
              <a:t> </a:t>
            </a:r>
            <a:r>
              <a:rPr lang="en-IN" sz="1108" b="1" dirty="0">
                <a:gradFill>
                  <a:gsLst>
                    <a:gs pos="0">
                      <a:srgbClr val="012D86"/>
                    </a:gs>
                    <a:gs pos="100000">
                      <a:srgbClr val="0E2557"/>
                    </a:gs>
                  </a:gsLst>
                  <a:lin scaled="0"/>
                </a:gradFill>
                <a:latin typeface="Bookman Old Style" panose="02050604050505020204" pitchFamily="18" charset="0"/>
              </a:rPr>
              <a:t>Results</a:t>
            </a:r>
            <a:endParaRPr lang="en-US" sz="1108" b="1" dirty="0">
              <a:solidFill>
                <a:srgbClr val="002060"/>
              </a:solidFill>
              <a:latin typeface="Bookman Old Style" panose="02050604050505020204" pitchFamily="18" charset="0"/>
              <a:cs typeface="Arial" panose="020B0604020202020204" pitchFamily="34" charset="0"/>
            </a:endParaRPr>
          </a:p>
        </p:txBody>
      </p:sp>
      <p:sp>
        <p:nvSpPr>
          <p:cNvPr id="95" name="TextBox 94">
            <a:extLst>
              <a:ext uri="{FF2B5EF4-FFF2-40B4-BE49-F238E27FC236}">
                <a16:creationId xmlns:a16="http://schemas.microsoft.com/office/drawing/2014/main" id="{201B29AE-B342-E928-5B22-A5B16BD8620C}"/>
              </a:ext>
            </a:extLst>
          </p:cNvPr>
          <p:cNvSpPr txBox="1"/>
          <p:nvPr/>
        </p:nvSpPr>
        <p:spPr>
          <a:xfrm>
            <a:off x="8267280" y="5725825"/>
            <a:ext cx="3686983" cy="1015663"/>
          </a:xfrm>
          <a:prstGeom prst="rect">
            <a:avLst/>
          </a:prstGeom>
          <a:noFill/>
        </p:spPr>
        <p:txBody>
          <a:bodyPr wrap="square">
            <a:spAutoFit/>
          </a:bodyPr>
          <a:lstStyle/>
          <a:p>
            <a:pPr marL="171450" indent="-171450">
              <a:buFont typeface="Arial" panose="020B0604020202020204" pitchFamily="34" charset="0"/>
              <a:buChar char="•"/>
            </a:pPr>
            <a:r>
              <a:rPr lang="en-IN" sz="1000" dirty="0"/>
              <a:t>Band-pass filtered EEG signal contains emotion-related frequency components.</a:t>
            </a:r>
          </a:p>
          <a:p>
            <a:pPr marL="171450" indent="-171450">
              <a:buFont typeface="Arial" panose="020B0604020202020204" pitchFamily="34" charset="0"/>
              <a:buChar char="•"/>
            </a:pPr>
            <a:r>
              <a:rPr lang="en-IN" sz="1000" dirty="0"/>
              <a:t>EEG bands analysed: Delta, Theta, Alpha, Beta, Gamma.</a:t>
            </a:r>
          </a:p>
          <a:p>
            <a:pPr marL="171450" indent="-171450">
              <a:buFont typeface="Arial" panose="020B0604020202020204" pitchFamily="34" charset="0"/>
              <a:buChar char="•"/>
            </a:pPr>
            <a:r>
              <a:rPr lang="en-IN" sz="1000" dirty="0"/>
              <a:t>Emotion-related feature (Arousal Index) calculated.</a:t>
            </a:r>
          </a:p>
          <a:p>
            <a:pPr marL="171450" indent="-171450">
              <a:buFont typeface="Arial" panose="020B0604020202020204" pitchFamily="34" charset="0"/>
              <a:buChar char="•"/>
            </a:pPr>
            <a:r>
              <a:rPr lang="en-IN" sz="1000" dirty="0"/>
              <a:t>Final emotional state detected: HAPPY / NEUTRAL / SAD.</a:t>
            </a:r>
          </a:p>
          <a:p>
            <a:pPr marL="171450" indent="-171450" algn="just">
              <a:buFont typeface="Courier New" panose="02070309020205020404" pitchFamily="49" charset="0"/>
              <a:buChar char="o"/>
            </a:pPr>
            <a:endParaRPr lang="en-IN" sz="1000" dirty="0">
              <a:cs typeface="Times New Roman" panose="02020603050405020304" pitchFamily="18" charset="0"/>
            </a:endParaRPr>
          </a:p>
        </p:txBody>
      </p:sp>
      <p:sp>
        <p:nvSpPr>
          <p:cNvPr id="96" name="TextBox 95">
            <a:extLst>
              <a:ext uri="{FF2B5EF4-FFF2-40B4-BE49-F238E27FC236}">
                <a16:creationId xmlns:a16="http://schemas.microsoft.com/office/drawing/2014/main" id="{FD543AB5-8B07-6AF0-F8E7-2727B7A43B1D}"/>
              </a:ext>
            </a:extLst>
          </p:cNvPr>
          <p:cNvSpPr txBox="1"/>
          <p:nvPr/>
        </p:nvSpPr>
        <p:spPr>
          <a:xfrm>
            <a:off x="8451229" y="4264582"/>
            <a:ext cx="4047332" cy="347788"/>
          </a:xfrm>
          <a:prstGeom prst="rect">
            <a:avLst/>
          </a:prstGeom>
          <a:noFill/>
        </p:spPr>
        <p:txBody>
          <a:bodyPr wrap="square">
            <a:spAutoFit/>
          </a:bodyPr>
          <a:lstStyle/>
          <a:p>
            <a:r>
              <a:rPr lang="en-US" sz="800" dirty="0"/>
              <a:t>Fig.6 and 7: Comparison of raw EEG signal and Butterworth bandpass filtered EEG signal (4–45 Hz)</a:t>
            </a:r>
            <a:r>
              <a:rPr lang="en-US" sz="800" dirty="0">
                <a:cs typeface="Times New Roman" panose="02020603050405020304" pitchFamily="18" charset="0"/>
              </a:rPr>
              <a:t> </a:t>
            </a:r>
            <a:endParaRPr lang="en-IN" sz="800" dirty="0"/>
          </a:p>
        </p:txBody>
      </p:sp>
      <p:sp>
        <p:nvSpPr>
          <p:cNvPr id="98" name="TextBox 97">
            <a:extLst>
              <a:ext uri="{FF2B5EF4-FFF2-40B4-BE49-F238E27FC236}">
                <a16:creationId xmlns:a16="http://schemas.microsoft.com/office/drawing/2014/main" id="{5337ADAB-3704-25D3-6FB4-D59A33A2840E}"/>
              </a:ext>
            </a:extLst>
          </p:cNvPr>
          <p:cNvSpPr txBox="1"/>
          <p:nvPr/>
        </p:nvSpPr>
        <p:spPr>
          <a:xfrm>
            <a:off x="8544252" y="2353790"/>
            <a:ext cx="1889172" cy="347788"/>
          </a:xfrm>
          <a:prstGeom prst="rect">
            <a:avLst/>
          </a:prstGeom>
          <a:noFill/>
        </p:spPr>
        <p:txBody>
          <a:bodyPr wrap="square">
            <a:spAutoFit/>
          </a:bodyPr>
          <a:lstStyle/>
          <a:p>
            <a:r>
              <a:rPr lang="en-US" sz="800" dirty="0">
                <a:cs typeface="Times New Roman" panose="02020603050405020304" pitchFamily="18" charset="0"/>
              </a:rPr>
              <a:t>Fig.4: Magnitude response of the IIR Butterworth Bandpass filter </a:t>
            </a:r>
            <a:endParaRPr lang="en-IN" sz="800" dirty="0"/>
          </a:p>
        </p:txBody>
      </p:sp>
      <p:graphicFrame>
        <p:nvGraphicFramePr>
          <p:cNvPr id="99" name="Table 98">
            <a:extLst>
              <a:ext uri="{FF2B5EF4-FFF2-40B4-BE49-F238E27FC236}">
                <a16:creationId xmlns:a16="http://schemas.microsoft.com/office/drawing/2014/main" id="{12184AEE-1C55-8AC8-8D4A-0DB7A194AB50}"/>
              </a:ext>
            </a:extLst>
          </p:cNvPr>
          <p:cNvGraphicFramePr>
            <a:graphicFrameLocks noGrp="1"/>
          </p:cNvGraphicFramePr>
          <p:nvPr>
            <p:extLst>
              <p:ext uri="{D42A27DB-BD31-4B8C-83A1-F6EECF244321}">
                <p14:modId xmlns:p14="http://schemas.microsoft.com/office/powerpoint/2010/main" val="812490910"/>
              </p:ext>
            </p:extLst>
          </p:nvPr>
        </p:nvGraphicFramePr>
        <p:xfrm>
          <a:off x="8498063" y="4747404"/>
          <a:ext cx="2201544" cy="1005840"/>
        </p:xfrm>
        <a:graphic>
          <a:graphicData uri="http://schemas.openxmlformats.org/drawingml/2006/table">
            <a:tbl>
              <a:tblPr firstRow="1" bandRow="1">
                <a:tableStyleId>{93296810-A885-4BE3-A3E7-6D5BEEA58F35}</a:tableStyleId>
              </a:tblPr>
              <a:tblGrid>
                <a:gridCol w="796591">
                  <a:extLst>
                    <a:ext uri="{9D8B030D-6E8A-4147-A177-3AD203B41FA5}">
                      <a16:colId xmlns:a16="http://schemas.microsoft.com/office/drawing/2014/main" val="218068305"/>
                    </a:ext>
                  </a:extLst>
                </a:gridCol>
                <a:gridCol w="1404953">
                  <a:extLst>
                    <a:ext uri="{9D8B030D-6E8A-4147-A177-3AD203B41FA5}">
                      <a16:colId xmlns:a16="http://schemas.microsoft.com/office/drawing/2014/main" val="2118193127"/>
                    </a:ext>
                  </a:extLst>
                </a:gridCol>
              </a:tblGrid>
              <a:tr h="193303">
                <a:tc>
                  <a:txBody>
                    <a:bodyPr/>
                    <a:lstStyle/>
                    <a:p>
                      <a:r>
                        <a:rPr lang="en-IN" sz="800" kern="1200" dirty="0"/>
                        <a:t>Condition</a:t>
                      </a:r>
                      <a:endParaRPr lang="en-IN" sz="800" kern="1200" dirty="0">
                        <a:solidFill>
                          <a:schemeClr val="bg1"/>
                        </a:solidFill>
                        <a:latin typeface="+mn-lt"/>
                        <a:ea typeface="+mn-ea"/>
                        <a:cs typeface="Times New Roman" panose="02020603050405020304" pitchFamily="18" charset="0"/>
                      </a:endParaRPr>
                    </a:p>
                  </a:txBody>
                  <a:tcPr/>
                </a:tc>
                <a:tc>
                  <a:txBody>
                    <a:bodyPr/>
                    <a:lstStyle/>
                    <a:p>
                      <a:r>
                        <a:rPr lang="en-US" sz="800" kern="1200" dirty="0">
                          <a:solidFill>
                            <a:schemeClr val="bg1"/>
                          </a:solidFill>
                          <a:latin typeface="+mn-lt"/>
                          <a:ea typeface="+mn-ea"/>
                          <a:cs typeface="Times New Roman" panose="02020603050405020304" pitchFamily="18" charset="0"/>
                        </a:rPr>
                        <a:t>F</a:t>
                      </a:r>
                      <a:r>
                        <a:rPr lang="en-IN" sz="800" kern="1200" dirty="0" err="1">
                          <a:solidFill>
                            <a:schemeClr val="bg1"/>
                          </a:solidFill>
                          <a:latin typeface="+mn-lt"/>
                          <a:ea typeface="+mn-ea"/>
                          <a:cs typeface="Times New Roman" panose="02020603050405020304" pitchFamily="18" charset="0"/>
                        </a:rPr>
                        <a:t>requency</a:t>
                      </a:r>
                      <a:r>
                        <a:rPr lang="en-IN" sz="800" kern="1200" dirty="0">
                          <a:solidFill>
                            <a:schemeClr val="bg1"/>
                          </a:solidFill>
                          <a:latin typeface="+mn-lt"/>
                          <a:ea typeface="+mn-ea"/>
                          <a:cs typeface="Times New Roman" panose="02020603050405020304" pitchFamily="18" charset="0"/>
                        </a:rPr>
                        <a:t> Domain Rule</a:t>
                      </a:r>
                    </a:p>
                  </a:txBody>
                  <a:tcPr/>
                </a:tc>
                <a:extLst>
                  <a:ext uri="{0D108BD9-81ED-4DB2-BD59-A6C34878D82A}">
                    <a16:rowId xmlns:a16="http://schemas.microsoft.com/office/drawing/2014/main" val="3701310488"/>
                  </a:ext>
                </a:extLst>
              </a:tr>
              <a:tr h="207111">
                <a:tc>
                  <a:txBody>
                    <a:bodyPr/>
                    <a:lstStyle/>
                    <a:p>
                      <a:r>
                        <a:rPr lang="en-US" sz="850" kern="1200" dirty="0">
                          <a:solidFill>
                            <a:schemeClr val="tx1"/>
                          </a:solidFill>
                          <a:latin typeface="+mn-lt"/>
                          <a:ea typeface="+mn-ea"/>
                          <a:cs typeface="Times New Roman" panose="02020603050405020304" pitchFamily="18" charset="0"/>
                        </a:rPr>
                        <a:t>H</a:t>
                      </a:r>
                      <a:r>
                        <a:rPr lang="en-IN" sz="850" kern="1200" dirty="0" err="1">
                          <a:solidFill>
                            <a:schemeClr val="tx1"/>
                          </a:solidFill>
                          <a:latin typeface="+mn-lt"/>
                          <a:ea typeface="+mn-ea"/>
                          <a:cs typeface="Times New Roman" panose="02020603050405020304" pitchFamily="18" charset="0"/>
                        </a:rPr>
                        <a:t>appy</a:t>
                      </a:r>
                      <a:endParaRPr lang="en-IN" sz="850" kern="1200" dirty="0">
                        <a:solidFill>
                          <a:schemeClr val="tx1"/>
                        </a:solidFill>
                        <a:latin typeface="+mn-lt"/>
                        <a:ea typeface="+mn-ea"/>
                        <a:cs typeface="Times New Roman" panose="02020603050405020304" pitchFamily="18" charset="0"/>
                      </a:endParaRPr>
                    </a:p>
                  </a:txBody>
                  <a:tcPr/>
                </a:tc>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l-GR" sz="850" dirty="0"/>
                        <a:t>(β+γ)</a:t>
                      </a:r>
                      <a:r>
                        <a:rPr lang="en-US" sz="850" dirty="0"/>
                        <a:t> </a:t>
                      </a:r>
                      <a:r>
                        <a:rPr lang="el-GR" sz="850" dirty="0"/>
                        <a:t>/</a:t>
                      </a:r>
                      <a:r>
                        <a:rPr lang="en-US" sz="850" dirty="0"/>
                        <a:t> </a:t>
                      </a:r>
                      <a:r>
                        <a:rPr lang="el-GR" sz="850" dirty="0"/>
                        <a:t>(δ+θ+α)</a:t>
                      </a:r>
                      <a:r>
                        <a:rPr lang="en-US" sz="850" dirty="0"/>
                        <a:t> </a:t>
                      </a:r>
                      <a:r>
                        <a:rPr lang="el-GR" sz="850" dirty="0"/>
                        <a:t>&gt;</a:t>
                      </a:r>
                      <a:r>
                        <a:rPr lang="en-US" sz="850" dirty="0"/>
                        <a:t> </a:t>
                      </a:r>
                      <a:r>
                        <a:rPr lang="el-GR" sz="850" dirty="0"/>
                        <a:t>0.</a:t>
                      </a:r>
                      <a:r>
                        <a:rPr lang="en-US" sz="850" dirty="0"/>
                        <a:t>54</a:t>
                      </a:r>
                      <a:endParaRPr lang="en-IN" sz="850" kern="1200" dirty="0">
                        <a:solidFill>
                          <a:schemeClr val="tx1"/>
                        </a:solidFill>
                        <a:latin typeface="+mn-lt"/>
                        <a:ea typeface="+mn-ea"/>
                        <a:cs typeface="Times New Roman" panose="02020603050405020304" pitchFamily="18" charset="0"/>
                      </a:endParaRPr>
                    </a:p>
                  </a:txBody>
                  <a:tcPr/>
                </a:tc>
                <a:extLst>
                  <a:ext uri="{0D108BD9-81ED-4DB2-BD59-A6C34878D82A}">
                    <a16:rowId xmlns:a16="http://schemas.microsoft.com/office/drawing/2014/main" val="2945357279"/>
                  </a:ext>
                </a:extLst>
              </a:tr>
              <a:tr h="207111">
                <a:tc>
                  <a:txBody>
                    <a:bodyPr/>
                    <a:lstStyle/>
                    <a:p>
                      <a:r>
                        <a:rPr lang="en-IN" sz="850" kern="1200" dirty="0"/>
                        <a:t>Sad </a:t>
                      </a:r>
                      <a:endParaRPr lang="en-IN" sz="850" kern="1200" dirty="0">
                        <a:solidFill>
                          <a:schemeClr val="tx1"/>
                        </a:solidFill>
                        <a:latin typeface="+mn-lt"/>
                        <a:ea typeface="+mn-ea"/>
                        <a:cs typeface="Times New Roman" panose="02020603050405020304" pitchFamily="18" charset="0"/>
                      </a:endParaRPr>
                    </a:p>
                  </a:txBody>
                  <a:tcPr/>
                </a:tc>
                <a:tc>
                  <a:txBody>
                    <a:bodyPr/>
                    <a:lstStyle/>
                    <a:p>
                      <a:r>
                        <a:rPr lang="en-US" sz="850" dirty="0"/>
                        <a:t>(</a:t>
                      </a:r>
                      <a:r>
                        <a:rPr lang="el-GR" sz="850" dirty="0"/>
                        <a:t>β+γ)</a:t>
                      </a:r>
                      <a:r>
                        <a:rPr lang="en-US" sz="850" dirty="0"/>
                        <a:t> </a:t>
                      </a:r>
                      <a:r>
                        <a:rPr lang="el-GR" sz="850" dirty="0"/>
                        <a:t>/</a:t>
                      </a:r>
                      <a:r>
                        <a:rPr lang="en-US" sz="850" dirty="0"/>
                        <a:t> </a:t>
                      </a:r>
                      <a:r>
                        <a:rPr lang="el-GR" sz="850" dirty="0"/>
                        <a:t>(δ+θ+α)</a:t>
                      </a:r>
                      <a:r>
                        <a:rPr lang="en-US" sz="850" dirty="0"/>
                        <a:t> </a:t>
                      </a:r>
                      <a:r>
                        <a:rPr lang="el-GR" sz="850" dirty="0"/>
                        <a:t>&lt;</a:t>
                      </a:r>
                      <a:r>
                        <a:rPr lang="en-US" sz="850" dirty="0"/>
                        <a:t> </a:t>
                      </a:r>
                      <a:r>
                        <a:rPr lang="el-GR" sz="850" dirty="0"/>
                        <a:t>0.</a:t>
                      </a:r>
                      <a:r>
                        <a:rPr lang="en-US" sz="850" dirty="0"/>
                        <a:t>45</a:t>
                      </a:r>
                      <a:endParaRPr lang="en-IN" sz="850" kern="1200" dirty="0">
                        <a:solidFill>
                          <a:schemeClr val="tx1"/>
                        </a:solidFill>
                        <a:latin typeface="+mn-lt"/>
                        <a:ea typeface="+mn-ea"/>
                        <a:cs typeface="Times New Roman" panose="02020603050405020304" pitchFamily="18" charset="0"/>
                      </a:endParaRPr>
                    </a:p>
                  </a:txBody>
                  <a:tcPr/>
                </a:tc>
                <a:extLst>
                  <a:ext uri="{0D108BD9-81ED-4DB2-BD59-A6C34878D82A}">
                    <a16:rowId xmlns:a16="http://schemas.microsoft.com/office/drawing/2014/main" val="1086402204"/>
                  </a:ext>
                </a:extLst>
              </a:tr>
              <a:tr h="331377">
                <a:tc>
                  <a:txBody>
                    <a:bodyPr/>
                    <a:lstStyle/>
                    <a:p>
                      <a:r>
                        <a:rPr lang="en-US" sz="850" kern="1200" dirty="0">
                          <a:solidFill>
                            <a:schemeClr val="tx1"/>
                          </a:solidFill>
                          <a:latin typeface="+mn-lt"/>
                          <a:ea typeface="+mn-ea"/>
                          <a:cs typeface="Times New Roman" panose="02020603050405020304" pitchFamily="18" charset="0"/>
                        </a:rPr>
                        <a:t>N</a:t>
                      </a:r>
                      <a:r>
                        <a:rPr lang="en-IN" sz="850" kern="1200" dirty="0" err="1">
                          <a:solidFill>
                            <a:schemeClr val="tx1"/>
                          </a:solidFill>
                          <a:latin typeface="+mn-lt"/>
                          <a:ea typeface="+mn-ea"/>
                          <a:cs typeface="Times New Roman" panose="02020603050405020304" pitchFamily="18" charset="0"/>
                        </a:rPr>
                        <a:t>eutral</a:t>
                      </a:r>
                      <a:endParaRPr lang="en-IN" sz="850" kern="1200" dirty="0">
                        <a:solidFill>
                          <a:schemeClr val="tx1"/>
                        </a:solidFill>
                        <a:latin typeface="+mn-lt"/>
                        <a:ea typeface="+mn-ea"/>
                        <a:cs typeface="Times New Roman" panose="02020603050405020304" pitchFamily="18" charset="0"/>
                      </a:endParaRPr>
                    </a:p>
                  </a:txBody>
                  <a:tcPr/>
                </a:tc>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l-GR" sz="850" dirty="0"/>
                        <a:t>0.</a:t>
                      </a:r>
                      <a:r>
                        <a:rPr lang="en-US" sz="850" dirty="0"/>
                        <a:t>45</a:t>
                      </a:r>
                      <a:r>
                        <a:rPr lang="el-GR" sz="850" dirty="0"/>
                        <a:t>≤(β+γ</a:t>
                      </a:r>
                      <a:r>
                        <a:rPr lang="en-US" sz="850" dirty="0"/>
                        <a:t> /</a:t>
                      </a:r>
                      <a:r>
                        <a:rPr lang="el-GR" sz="850" dirty="0"/>
                        <a:t>(δ+θ+α)≤0.</a:t>
                      </a:r>
                      <a:r>
                        <a:rPr lang="en-US" sz="850" dirty="0"/>
                        <a:t>54</a:t>
                      </a:r>
                      <a:endParaRPr lang="en-IN" sz="850" kern="1200" dirty="0">
                        <a:solidFill>
                          <a:schemeClr val="tx1"/>
                        </a:solidFill>
                        <a:latin typeface="+mn-lt"/>
                        <a:ea typeface="+mn-ea"/>
                        <a:cs typeface="Times New Roman" panose="02020603050405020304" pitchFamily="18" charset="0"/>
                      </a:endParaRPr>
                    </a:p>
                    <a:p>
                      <a:pPr>
                        <a:buNone/>
                      </a:pPr>
                      <a:endParaRPr lang="en-IN" sz="850" dirty="0"/>
                    </a:p>
                  </a:txBody>
                  <a:tcPr anchor="ctr"/>
                </a:tc>
                <a:extLst>
                  <a:ext uri="{0D108BD9-81ED-4DB2-BD59-A6C34878D82A}">
                    <a16:rowId xmlns:a16="http://schemas.microsoft.com/office/drawing/2014/main" val="218310545"/>
                  </a:ext>
                </a:extLst>
              </a:tr>
            </a:tbl>
          </a:graphicData>
        </a:graphic>
      </p:graphicFrame>
      <p:sp>
        <p:nvSpPr>
          <p:cNvPr id="100" name="Rectangle 99">
            <a:extLst>
              <a:ext uri="{FF2B5EF4-FFF2-40B4-BE49-F238E27FC236}">
                <a16:creationId xmlns:a16="http://schemas.microsoft.com/office/drawing/2014/main" id="{8A33DFC0-7C91-18EA-7F9A-D2F560BED530}"/>
              </a:ext>
            </a:extLst>
          </p:cNvPr>
          <p:cNvSpPr/>
          <p:nvPr/>
        </p:nvSpPr>
        <p:spPr>
          <a:xfrm>
            <a:off x="4251564" y="3172854"/>
            <a:ext cx="1128906" cy="191649"/>
          </a:xfrm>
          <a:prstGeom prst="rect">
            <a:avLst/>
          </a:prstGeom>
        </p:spPr>
        <p:txBody>
          <a:bodyPr wrap="square" lIns="63305" tIns="31652" rIns="63305" bIns="31652">
            <a:spAutoFit/>
          </a:bodyPr>
          <a:lstStyle/>
          <a:p>
            <a:r>
              <a:rPr lang="en-IN" altLang="en-US" sz="830" b="1" dirty="0">
                <a:solidFill>
                  <a:srgbClr val="002060"/>
                </a:solidFill>
              </a:rPr>
              <a:t>Signal Parameters </a:t>
            </a:r>
          </a:p>
        </p:txBody>
      </p:sp>
      <p:sp>
        <p:nvSpPr>
          <p:cNvPr id="101" name="TextBox 100">
            <a:extLst>
              <a:ext uri="{FF2B5EF4-FFF2-40B4-BE49-F238E27FC236}">
                <a16:creationId xmlns:a16="http://schemas.microsoft.com/office/drawing/2014/main" id="{7A9B649F-4824-FD8C-BAA3-04B5F565FDA1}"/>
              </a:ext>
            </a:extLst>
          </p:cNvPr>
          <p:cNvSpPr txBox="1"/>
          <p:nvPr/>
        </p:nvSpPr>
        <p:spPr>
          <a:xfrm>
            <a:off x="8418448" y="4546363"/>
            <a:ext cx="1633523" cy="230832"/>
          </a:xfrm>
          <a:prstGeom prst="rect">
            <a:avLst/>
          </a:prstGeom>
          <a:noFill/>
        </p:spPr>
        <p:txBody>
          <a:bodyPr wrap="square">
            <a:spAutoFit/>
          </a:bodyPr>
          <a:lstStyle/>
          <a:p>
            <a:pPr>
              <a:buClrTx/>
              <a:buSzTx/>
              <a:buFontTx/>
            </a:pPr>
            <a:r>
              <a:rPr lang="en-IN" altLang="en-US" sz="900" b="1" dirty="0">
                <a:solidFill>
                  <a:srgbClr val="002060"/>
                </a:solidFill>
              </a:rPr>
              <a:t>Frequency domain output</a:t>
            </a:r>
          </a:p>
        </p:txBody>
      </p:sp>
      <p:pic>
        <p:nvPicPr>
          <p:cNvPr id="1026" name="image1.png" descr="ICTIEE 2024"/>
          <p:cNvPicPr>
            <a:picLocks noChangeAspect="1" noChangeArrowheads="1"/>
          </p:cNvPicPr>
          <p:nvPr/>
        </p:nvPicPr>
        <p:blipFill>
          <a:blip r:embed="rId10">
            <a:extLst>
              <a:ext uri="{28A0092B-C50C-407E-A947-70E740481C1C}">
                <a14:useLocalDpi xmlns:a14="http://schemas.microsoft.com/office/drawing/2010/main" val="0"/>
              </a:ext>
            </a:extLst>
          </a:blip>
          <a:srcRect t="21602" b="21690"/>
          <a:stretch>
            <a:fillRect/>
          </a:stretch>
        </p:blipFill>
        <p:spPr bwMode="auto">
          <a:xfrm>
            <a:off x="10413440" y="381014"/>
            <a:ext cx="2011363" cy="365125"/>
          </a:xfrm>
          <a:prstGeom prst="rect">
            <a:avLst/>
          </a:prstGeom>
          <a:noFill/>
          <a:ln>
            <a:noFill/>
          </a:ln>
          <a:scene3d>
            <a:camera prst="orthographicFront"/>
            <a:lightRig rig="threePt" dir="t"/>
          </a:scene3d>
          <a:sp3d>
            <a:bevel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AutoShape 4" descr="ICTIEE 202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6" descr="ICTIEE 2024"/>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8" descr="ICTIEE 2024"/>
          <p:cNvSpPr>
            <a:spLocks noChangeAspect="1" noChangeArrowheads="1"/>
          </p:cNvSpPr>
          <p:nvPr/>
        </p:nvSpPr>
        <p:spPr bwMode="auto">
          <a:xfrm>
            <a:off x="9401273" y="524332"/>
            <a:ext cx="719601" cy="7196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177350" y="3070075"/>
            <a:ext cx="3936378" cy="1931298"/>
          </a:xfrm>
          <a:prstGeom prst="rect">
            <a:avLst/>
          </a:prstGeom>
        </p:spPr>
        <p:txBody>
          <a:bodyPr wrap="square" lIns="91440" tIns="45720" rIns="91440" bIns="45720" anchor="t">
            <a:spAutoFit/>
          </a:bodyPr>
          <a:lstStyle/>
          <a:p>
            <a:pPr marL="228600" indent="-228600">
              <a:buFont typeface="+mj-lt"/>
              <a:buAutoNum type="arabicPeriod"/>
            </a:pPr>
            <a:r>
              <a:rPr lang="en-US" sz="850" b="1" dirty="0"/>
              <a:t>EEG-Based Emotion Recognition:</a:t>
            </a:r>
            <a:br>
              <a:rPr lang="en-US" sz="850" dirty="0"/>
            </a:br>
            <a:r>
              <a:rPr lang="en-US" sz="850" dirty="0"/>
              <a:t>Uses alpha and beta band EEG features with statistical classification to demonstrate a strong link between brain activity and emotions.</a:t>
            </a:r>
          </a:p>
          <a:p>
            <a:pPr marL="228600" indent="-228600">
              <a:buFont typeface="+mj-lt"/>
              <a:buAutoNum type="arabicPeriod"/>
            </a:pPr>
            <a:r>
              <a:rPr lang="en-US" sz="850" b="1" dirty="0"/>
              <a:t>Hybrid EEG Emotion Recognition Method:</a:t>
            </a:r>
            <a:br>
              <a:rPr lang="en-US" sz="850" dirty="0"/>
            </a:br>
            <a:r>
              <a:rPr lang="en-US" sz="850" dirty="0"/>
              <a:t>Combines signal decomposition and intelligent algorithms to improve emotion classification accuracy at the cost of high computational complexity.</a:t>
            </a:r>
          </a:p>
          <a:p>
            <a:pPr marL="228600" indent="-228600">
              <a:buFont typeface="+mj-lt"/>
              <a:buAutoNum type="arabicPeriod"/>
            </a:pPr>
            <a:r>
              <a:rPr lang="en-US" sz="850" b="1" dirty="0"/>
              <a:t>Survey on EEG-Based Emotion Detection:</a:t>
            </a:r>
            <a:br>
              <a:rPr lang="en-US" sz="850" dirty="0"/>
            </a:br>
            <a:r>
              <a:rPr lang="en-US" sz="850" dirty="0"/>
              <a:t>Reviews existing EEG emotion recognition techniques and datasets, highlighting challenges in real-time implementation and interpretability.</a:t>
            </a:r>
          </a:p>
          <a:p>
            <a:pPr marL="228600" indent="-228600">
              <a:buFont typeface="+mj-lt"/>
              <a:buAutoNum type="arabicPeriod"/>
            </a:pPr>
            <a:r>
              <a:rPr lang="en-IN" sz="850" b="1" dirty="0"/>
              <a:t>Comprehensive EEG Emotion Recognition Study:</a:t>
            </a:r>
            <a:br>
              <a:rPr lang="en-IN" sz="850" dirty="0"/>
            </a:br>
            <a:r>
              <a:rPr lang="en-IN" sz="850" dirty="0"/>
              <a:t>Analyses EEG emotion recognition using signal preprocessing and frequency-domain feature extraction techniques, highlighting their effectiveness and limitations in handling non-stationary EEG signals.</a:t>
            </a:r>
            <a:endParaRPr lang="en-US" sz="850" dirty="0"/>
          </a:p>
          <a:p>
            <a:pPr marL="228600" indent="-228600" algn="just">
              <a:buFont typeface="+mj-lt"/>
              <a:buAutoNum type="arabicPeriod"/>
            </a:pPr>
            <a:endParaRPr lang="en-US" sz="900" dirty="0">
              <a:cs typeface="Times New Roman" panose="02020603050405020304" pitchFamily="18" charset="0"/>
            </a:endParaRPr>
          </a:p>
        </p:txBody>
      </p:sp>
      <p:sp>
        <p:nvSpPr>
          <p:cNvPr id="9" name="Rectangle 8"/>
          <p:cNvSpPr/>
          <p:nvPr/>
        </p:nvSpPr>
        <p:spPr>
          <a:xfrm>
            <a:off x="186297" y="1350093"/>
            <a:ext cx="3884624" cy="1477328"/>
          </a:xfrm>
          <a:prstGeom prst="rect">
            <a:avLst/>
          </a:prstGeom>
        </p:spPr>
        <p:txBody>
          <a:bodyPr wrap="square">
            <a:spAutoFit/>
          </a:bodyPr>
          <a:lstStyle/>
          <a:p>
            <a:r>
              <a:rPr lang="en-US" sz="1000" dirty="0"/>
              <a:t>EEG signals are non-stationary and highly noisy, requiring effective preprocessing for reliable analysis, while accurate emotion recognition depends on extracting meaningful features from specific EEG frequency bands. Most existing approaches rely on machine learning techniques, which often provide limited interpretability of the underlying signal characteristics. This work addresses the challenge of classifying emotional states using pure digital signal processing methods such as bandpass filtering, Fast Fourier Transform (FFT), and power spectral density analysis.</a:t>
            </a:r>
          </a:p>
        </p:txBody>
      </p:sp>
      <p:sp>
        <p:nvSpPr>
          <p:cNvPr id="11" name="Rectangle 10"/>
          <p:cNvSpPr/>
          <p:nvPr/>
        </p:nvSpPr>
        <p:spPr>
          <a:xfrm>
            <a:off x="112257" y="9409113"/>
            <a:ext cx="12548051" cy="190610"/>
          </a:xfrm>
          <a:prstGeom prst="rect">
            <a:avLst/>
          </a:prstGeom>
          <a:solidFill>
            <a:schemeClr val="accent6">
              <a:lumMod val="40000"/>
              <a:lumOff val="60000"/>
            </a:schemeClr>
          </a:solidFill>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703740" y="2559014"/>
            <a:ext cx="3354789" cy="246221"/>
          </a:xfrm>
          <a:prstGeom prst="rect">
            <a:avLst/>
          </a:prstGeom>
        </p:spPr>
        <p:txBody>
          <a:bodyPr wrap="square">
            <a:spAutoFit/>
          </a:bodyPr>
          <a:lstStyle/>
          <a:p>
            <a:r>
              <a:rPr lang="en-US" sz="1000" dirty="0">
                <a:cs typeface="Times New Roman" panose="02020603050405020304" pitchFamily="18" charset="0"/>
              </a:rPr>
              <a:t>Fig1: Block diagram of EEG based Emotion detection</a:t>
            </a:r>
            <a:endParaRPr lang="en-IN" sz="100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B5C4593-72CA-416E-683C-05E626FF92F5}"/>
                  </a:ext>
                </a:extLst>
              </p:cNvPr>
              <p:cNvSpPr txBox="1"/>
              <p:nvPr/>
            </p:nvSpPr>
            <p:spPr>
              <a:xfrm>
                <a:off x="5976513" y="8373750"/>
                <a:ext cx="1645259" cy="3164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pt-BR" sz="1000" i="1" smtClean="0">
                              <a:latin typeface="Cambria Math" panose="02040503050406030204" pitchFamily="18" charset="0"/>
                            </a:rPr>
                          </m:ctrlPr>
                        </m:sSupPr>
                        <m:e>
                          <m:r>
                            <a:rPr lang="pt-BR" sz="1000" i="1">
                              <a:latin typeface="Cambria Math" panose="02040503050406030204" pitchFamily="18" charset="0"/>
                            </a:rPr>
                            <m:t>|</m:t>
                          </m:r>
                          <m:r>
                            <a:rPr lang="pt-BR" sz="1000" i="1">
                              <a:latin typeface="Cambria Math" panose="02040503050406030204" pitchFamily="18" charset="0"/>
                            </a:rPr>
                            <m:t>𝐻</m:t>
                          </m:r>
                          <m:r>
                            <a:rPr lang="pt-BR" sz="1000" i="1">
                              <a:latin typeface="Cambria Math" panose="02040503050406030204" pitchFamily="18" charset="0"/>
                            </a:rPr>
                            <m:t>(</m:t>
                          </m:r>
                          <m:r>
                            <a:rPr lang="pt-BR" sz="1000" i="1">
                              <a:latin typeface="Cambria Math" panose="02040503050406030204" pitchFamily="18" charset="0"/>
                            </a:rPr>
                            <m:t>𝑗</m:t>
                          </m:r>
                          <m:r>
                            <a:rPr lang="pt-BR" sz="1000" i="1">
                              <a:latin typeface="Cambria Math" panose="02040503050406030204" pitchFamily="18" charset="0"/>
                            </a:rPr>
                            <m:t>𝜔</m:t>
                          </m:r>
                          <m:r>
                            <a:rPr lang="pt-BR" sz="1000" i="1">
                              <a:latin typeface="Cambria Math" panose="02040503050406030204" pitchFamily="18" charset="0"/>
                            </a:rPr>
                            <m:t>)|</m:t>
                          </m:r>
                        </m:e>
                        <m:sup>
                          <m:r>
                            <a:rPr lang="en-US" sz="1000" b="0" i="1" smtClean="0">
                              <a:latin typeface="Cambria Math" panose="02040503050406030204" pitchFamily="18" charset="0"/>
                            </a:rPr>
                            <m:t>2</m:t>
                          </m:r>
                        </m:sup>
                      </m:sSup>
                      <m:r>
                        <a:rPr lang="pt-BR" sz="1000" i="1">
                          <a:latin typeface="Cambria Math" panose="02040503050406030204" pitchFamily="18" charset="0"/>
                        </a:rPr>
                        <m:t> =</m:t>
                      </m:r>
                      <m:r>
                        <a:rPr lang="pt-BR" sz="1000" i="1" smtClean="0">
                          <a:latin typeface="Cambria Math" panose="02040503050406030204" pitchFamily="18" charset="0"/>
                        </a:rPr>
                        <m:t> </m:t>
                      </m:r>
                      <m:f>
                        <m:fPr>
                          <m:ctrlPr>
                            <a:rPr lang="pt-BR" sz="1000" i="1" smtClean="0">
                              <a:latin typeface="Cambria Math" panose="02040503050406030204" pitchFamily="18" charset="0"/>
                            </a:rPr>
                          </m:ctrlPr>
                        </m:fPr>
                        <m:num>
                          <m:r>
                            <a:rPr lang="en-US" sz="1000" b="0" i="1" smtClean="0">
                              <a:latin typeface="Cambria Math" panose="02040503050406030204" pitchFamily="18" charset="0"/>
                            </a:rPr>
                            <m:t>1</m:t>
                          </m:r>
                        </m:num>
                        <m:den>
                          <m:sSup>
                            <m:sSupPr>
                              <m:ctrlPr>
                                <a:rPr lang="pt-BR" sz="1000" i="1" smtClean="0">
                                  <a:latin typeface="Cambria Math" panose="02040503050406030204" pitchFamily="18" charset="0"/>
                                </a:rPr>
                              </m:ctrlPr>
                            </m:sSupPr>
                            <m:e>
                              <m:r>
                                <a:rPr lang="pt-BR" sz="1000" i="1">
                                  <a:latin typeface="Cambria Math" panose="02040503050406030204" pitchFamily="18" charset="0"/>
                                </a:rPr>
                                <m:t>(1 + (</m:t>
                              </m:r>
                              <m:r>
                                <a:rPr lang="pt-BR" sz="1000" i="1">
                                  <a:latin typeface="Cambria Math" panose="02040503050406030204" pitchFamily="18" charset="0"/>
                                </a:rPr>
                                <m:t>𝜔</m:t>
                              </m:r>
                              <m:r>
                                <a:rPr lang="pt-BR" sz="1000" i="1">
                                  <a:latin typeface="Cambria Math" panose="02040503050406030204" pitchFamily="18" charset="0"/>
                                </a:rPr>
                                <m:t>/</m:t>
                              </m:r>
                              <m:sSub>
                                <m:sSubPr>
                                  <m:ctrlPr>
                                    <a:rPr lang="pt-BR" sz="1000" i="1" smtClean="0">
                                      <a:latin typeface="Cambria Math" panose="02040503050406030204" pitchFamily="18" charset="0"/>
                                    </a:rPr>
                                  </m:ctrlPr>
                                </m:sSubPr>
                                <m:e>
                                  <m:r>
                                    <a:rPr lang="pt-BR" sz="1000" i="1">
                                      <a:latin typeface="Cambria Math" panose="02040503050406030204" pitchFamily="18" charset="0"/>
                                    </a:rPr>
                                    <m:t>𝜔</m:t>
                                  </m:r>
                                </m:e>
                                <m:sub>
                                  <m:r>
                                    <a:rPr lang="pt-BR" sz="1000" i="1">
                                      <a:latin typeface="Cambria Math" panose="02040503050406030204" pitchFamily="18" charset="0"/>
                                    </a:rPr>
                                    <m:t>𝑐</m:t>
                                  </m:r>
                                </m:sub>
                              </m:sSub>
                              <m:r>
                                <a:rPr lang="pt-BR" sz="1000" i="1">
                                  <a:latin typeface="Cambria Math" panose="02040503050406030204" pitchFamily="18" charset="0"/>
                                </a:rPr>
                                <m:t>))</m:t>
                              </m:r>
                            </m:e>
                            <m:sup>
                              <m:r>
                                <a:rPr lang="pt-BR" sz="1000" i="1">
                                  <a:latin typeface="Cambria Math" panose="02040503050406030204" pitchFamily="18" charset="0"/>
                                </a:rPr>
                                <m:t>2</m:t>
                              </m:r>
                              <m:r>
                                <a:rPr lang="pt-BR" sz="1000" i="1">
                                  <a:latin typeface="Cambria Math" panose="02040503050406030204" pitchFamily="18" charset="0"/>
                                </a:rPr>
                                <m:t>𝑁</m:t>
                              </m:r>
                            </m:sup>
                          </m:sSup>
                        </m:den>
                      </m:f>
                    </m:oMath>
                  </m:oMathPara>
                </a14:m>
                <a:endParaRPr dirty="0"/>
              </a:p>
            </p:txBody>
          </p:sp>
        </mc:Choice>
        <mc:Fallback xmlns="">
          <p:sp>
            <p:nvSpPr>
              <p:cNvPr id="26" name="TextBox 25">
                <a:extLst>
                  <a:ext uri="{FF2B5EF4-FFF2-40B4-BE49-F238E27FC236}">
                    <a16:creationId xmlns:a16="http://schemas.microsoft.com/office/drawing/2014/main" id="{DB5C4593-72CA-416E-683C-05E626FF92F5}"/>
                  </a:ext>
                </a:extLst>
              </p:cNvPr>
              <p:cNvSpPr txBox="1">
                <a:spLocks noRot="1" noChangeAspect="1" noMove="1" noResize="1" noEditPoints="1" noAdjustHandles="1" noChangeArrowheads="1" noChangeShapeType="1" noTextEdit="1"/>
              </p:cNvSpPr>
              <p:nvPr/>
            </p:nvSpPr>
            <p:spPr>
              <a:xfrm>
                <a:off x="5976513" y="8373750"/>
                <a:ext cx="1645259" cy="316497"/>
              </a:xfrm>
              <a:prstGeom prst="rect">
                <a:avLst/>
              </a:prstGeom>
              <a:blipFill>
                <a:blip r:embed="rId13"/>
                <a:stretch>
                  <a:fillRect l="-2963" t="-1923" r="-1111" b="-1923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98D8E33-D084-1EAD-66A1-014D450C0C93}"/>
                  </a:ext>
                </a:extLst>
              </p:cNvPr>
              <p:cNvSpPr txBox="1"/>
              <p:nvPr/>
            </p:nvSpPr>
            <p:spPr>
              <a:xfrm>
                <a:off x="6085112" y="8753595"/>
                <a:ext cx="1043249" cy="272254"/>
              </a:xfrm>
              <a:prstGeom prst="rect">
                <a:avLst/>
              </a:prstGeom>
              <a:noFill/>
            </p:spPr>
            <p:txBody>
              <a:bodyPr wrap="square" lIns="0" tIns="0" rIns="0" bIns="0" rtlCol="0">
                <a:spAutoFit/>
              </a:bodyPr>
              <a:lstStyle/>
              <a:p>
                <a:r>
                  <a:rPr lang="en-US" sz="1000" dirty="0"/>
                  <a:t>s</a:t>
                </a:r>
                <a14:m>
                  <m:oMath xmlns:m="http://schemas.openxmlformats.org/officeDocument/2006/math">
                    <m:r>
                      <a:rPr lang="el-GR" sz="1000" i="1">
                        <a:latin typeface="Cambria Math" panose="02040503050406030204" pitchFamily="18" charset="0"/>
                      </a:rPr>
                      <m:t> → </m:t>
                    </m:r>
                    <m:f>
                      <m:fPr>
                        <m:ctrlPr>
                          <a:rPr lang="el-GR" sz="1000" i="1" smtClean="0">
                            <a:latin typeface="Cambria Math" panose="02040503050406030204" pitchFamily="18" charset="0"/>
                          </a:rPr>
                        </m:ctrlPr>
                      </m:fPr>
                      <m:num>
                        <m:r>
                          <a:rPr lang="el-GR" sz="1000" i="1">
                            <a:latin typeface="Cambria Math" panose="02040503050406030204" pitchFamily="18" charset="0"/>
                          </a:rPr>
                          <m:t>(</m:t>
                        </m:r>
                        <m:sSup>
                          <m:sSupPr>
                            <m:ctrlPr>
                              <a:rPr lang="el-GR" sz="1000" i="1" smtClean="0">
                                <a:latin typeface="Cambria Math" panose="02040503050406030204" pitchFamily="18" charset="0"/>
                              </a:rPr>
                            </m:ctrlPr>
                          </m:sSupPr>
                          <m:e>
                            <m:r>
                              <m:rPr>
                                <m:sty m:val="p"/>
                              </m:rPr>
                              <a:rPr lang="en-US" sz="1000" b="0" i="1" smtClean="0">
                                <a:latin typeface="Cambria Math" panose="02040503050406030204" pitchFamily="18" charset="0"/>
                              </a:rPr>
                              <m:t>s</m:t>
                            </m:r>
                          </m:e>
                          <m:sup>
                            <m:r>
                              <a:rPr lang="el-GR" sz="1000" i="1">
                                <a:latin typeface="Cambria Math" panose="02040503050406030204" pitchFamily="18" charset="0"/>
                              </a:rPr>
                              <m:t>2</m:t>
                            </m:r>
                          </m:sup>
                        </m:sSup>
                        <m:r>
                          <a:rPr lang="el-GR" sz="1000" i="1">
                            <a:latin typeface="Cambria Math" panose="02040503050406030204" pitchFamily="18" charset="0"/>
                          </a:rPr>
                          <m:t> −</m:t>
                        </m:r>
                        <m:sSup>
                          <m:sSupPr>
                            <m:ctrlPr>
                              <a:rPr lang="el-GR" sz="1000" i="1" smtClean="0">
                                <a:latin typeface="Cambria Math" panose="02040503050406030204" pitchFamily="18" charset="0"/>
                              </a:rPr>
                            </m:ctrlPr>
                          </m:sSupPr>
                          <m:e>
                            <m:sSub>
                              <m:sSubPr>
                                <m:ctrlPr>
                                  <a:rPr lang="el-GR" sz="1000" i="1">
                                    <a:latin typeface="Cambria Math" panose="02040503050406030204" pitchFamily="18" charset="0"/>
                                    <a:ea typeface="Cambria Math" panose="02040503050406030204" pitchFamily="18" charset="0"/>
                                  </a:rPr>
                                </m:ctrlPr>
                              </m:sSubPr>
                              <m:e>
                                <m:r>
                                  <m:rPr>
                                    <m:sty m:val="p"/>
                                  </m:rPr>
                                  <a:rPr lang="el-GR" sz="1000" i="1">
                                    <a:latin typeface="Cambria Math" panose="02040503050406030204" pitchFamily="18" charset="0"/>
                                    <a:ea typeface="Cambria Math" panose="02040503050406030204" pitchFamily="18" charset="0"/>
                                  </a:rPr>
                                  <m:t>Ω</m:t>
                                </m:r>
                              </m:e>
                              <m:sub>
                                <m:r>
                                  <a:rPr lang="en-US" sz="1000" i="1">
                                    <a:latin typeface="Cambria Math" panose="02040503050406030204" pitchFamily="18" charset="0"/>
                                    <a:ea typeface="Cambria Math" panose="02040503050406030204" pitchFamily="18" charset="0"/>
                                  </a:rPr>
                                  <m:t>0</m:t>
                                </m:r>
                              </m:sub>
                            </m:sSub>
                          </m:e>
                          <m:sup>
                            <m:r>
                              <a:rPr lang="en-US" sz="1000" b="0" i="1" smtClean="0">
                                <a:latin typeface="Cambria Math" panose="02040503050406030204" pitchFamily="18" charset="0"/>
                              </a:rPr>
                              <m:t>2</m:t>
                            </m:r>
                          </m:sup>
                        </m:sSup>
                        <m:r>
                          <a:rPr lang="el-GR" sz="1000" i="1">
                            <a:latin typeface="Cambria Math" panose="02040503050406030204" pitchFamily="18" charset="0"/>
                          </a:rPr>
                          <m:t>)</m:t>
                        </m:r>
                      </m:num>
                      <m:den>
                        <m:r>
                          <a:rPr lang="el-GR" sz="1000" i="1">
                            <a:latin typeface="Cambria Math" panose="02040503050406030204" pitchFamily="18" charset="0"/>
                          </a:rPr>
                          <m:t>(</m:t>
                        </m:r>
                        <m:sSub>
                          <m:sSubPr>
                            <m:ctrlPr>
                              <a:rPr lang="el-GR" sz="1000" i="1" smtClean="0">
                                <a:latin typeface="Cambria Math" panose="02040503050406030204" pitchFamily="18" charset="0"/>
                              </a:rPr>
                            </m:ctrlPr>
                          </m:sSubPr>
                          <m:e>
                            <m:r>
                              <a:rPr lang="en-IN" sz="1000" i="1">
                                <a:latin typeface="Cambria Math" panose="02040503050406030204" pitchFamily="18" charset="0"/>
                              </a:rPr>
                              <m:t>𝐵</m:t>
                            </m:r>
                          </m:e>
                          <m:sub>
                            <m:r>
                              <m:rPr>
                                <m:sty m:val="p"/>
                              </m:rPr>
                              <a:rPr lang="en-US" sz="1000" b="0" i="1" smtClean="0">
                                <a:latin typeface="Cambria Math" panose="02040503050406030204" pitchFamily="18" charset="0"/>
                              </a:rPr>
                              <m:t>s</m:t>
                            </m:r>
                          </m:sub>
                        </m:sSub>
                        <m:r>
                          <a:rPr lang="el-GR" sz="1000" i="1">
                            <a:latin typeface="Cambria Math" panose="02040503050406030204" pitchFamily="18" charset="0"/>
                          </a:rPr>
                          <m:t>)</m:t>
                        </m:r>
                        <m:r>
                          <m:rPr>
                            <m:nor/>
                          </m:rPr>
                          <a:rPr lang="el-GR" sz="1000"/>
                          <m:t> </m:t>
                        </m:r>
                      </m:den>
                    </m:f>
                  </m:oMath>
                </a14:m>
                <a:endParaRPr lang="en-IN" sz="1000" dirty="0"/>
              </a:p>
            </p:txBody>
          </p:sp>
        </mc:Choice>
        <mc:Fallback xmlns="">
          <p:sp>
            <p:nvSpPr>
              <p:cNvPr id="32" name="TextBox 31">
                <a:extLst>
                  <a:ext uri="{FF2B5EF4-FFF2-40B4-BE49-F238E27FC236}">
                    <a16:creationId xmlns:a16="http://schemas.microsoft.com/office/drawing/2014/main" id="{998D8E33-D084-1EAD-66A1-014D450C0C93}"/>
                  </a:ext>
                </a:extLst>
              </p:cNvPr>
              <p:cNvSpPr txBox="1">
                <a:spLocks noRot="1" noChangeAspect="1" noMove="1" noResize="1" noEditPoints="1" noAdjustHandles="1" noChangeArrowheads="1" noChangeShapeType="1" noTextEdit="1"/>
              </p:cNvSpPr>
              <p:nvPr/>
            </p:nvSpPr>
            <p:spPr>
              <a:xfrm>
                <a:off x="6085112" y="8753595"/>
                <a:ext cx="1043249" cy="272254"/>
              </a:xfrm>
              <a:prstGeom prst="rect">
                <a:avLst/>
              </a:prstGeom>
              <a:blipFill>
                <a:blip r:embed="rId14"/>
                <a:stretch>
                  <a:fillRect l="-7602" b="-1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F22ED76-F122-C8A4-5A02-211D460BDD63}"/>
                  </a:ext>
                </a:extLst>
              </p:cNvPr>
              <p:cNvSpPr txBox="1"/>
              <p:nvPr/>
            </p:nvSpPr>
            <p:spPr>
              <a:xfrm>
                <a:off x="5848738" y="9018776"/>
                <a:ext cx="2090372" cy="3110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l-PL" sz="1000" i="1">
                          <a:latin typeface="Cambria Math" panose="02040503050406030204" pitchFamily="18" charset="0"/>
                        </a:rPr>
                        <m:t>𝐻</m:t>
                      </m:r>
                      <m:r>
                        <a:rPr lang="pl-PL" sz="1000" i="1">
                          <a:latin typeface="Cambria Math" panose="02040503050406030204" pitchFamily="18" charset="0"/>
                        </a:rPr>
                        <m:t>(</m:t>
                      </m:r>
                      <m:r>
                        <a:rPr lang="pl-PL" sz="1000" i="1">
                          <a:latin typeface="Cambria Math" panose="02040503050406030204" pitchFamily="18" charset="0"/>
                        </a:rPr>
                        <m:t>𝑧</m:t>
                      </m:r>
                      <m:r>
                        <a:rPr lang="pl-PL" sz="1000" i="1">
                          <a:latin typeface="Cambria Math" panose="02040503050406030204" pitchFamily="18" charset="0"/>
                        </a:rPr>
                        <m:t>) = </m:t>
                      </m:r>
                      <m:sSub>
                        <m:sSubPr>
                          <m:ctrlPr>
                            <a:rPr lang="en-US" sz="1000" b="0" i="1" smtClean="0">
                              <a:latin typeface="Cambria Math" panose="02040503050406030204" pitchFamily="18" charset="0"/>
                            </a:rPr>
                          </m:ctrlPr>
                        </m:sSubPr>
                        <m:e>
                          <m:r>
                            <m:rPr>
                              <m:sty m:val="p"/>
                            </m:rPr>
                            <a:rPr lang="en-US" sz="1000" i="1">
                              <a:latin typeface="Cambria Math" panose="02040503050406030204" pitchFamily="18" charset="0"/>
                            </a:rPr>
                            <m:t>H</m:t>
                          </m:r>
                        </m:e>
                        <m:sub>
                          <m:r>
                            <m:rPr>
                              <m:sty m:val="p"/>
                            </m:rPr>
                            <a:rPr lang="en-US" sz="1000" b="0" i="1" smtClean="0">
                              <a:latin typeface="Cambria Math" panose="02040503050406030204" pitchFamily="18" charset="0"/>
                            </a:rPr>
                            <m:t>a</m:t>
                          </m:r>
                        </m:sub>
                      </m:sSub>
                      <m:r>
                        <a:rPr lang="en-US" sz="1000" b="0" i="1" smtClean="0">
                          <a:latin typeface="Cambria Math" panose="02040503050406030204" pitchFamily="18" charset="0"/>
                        </a:rPr>
                        <m:t>(</m:t>
                      </m:r>
                      <m:r>
                        <m:rPr>
                          <m:sty m:val="p"/>
                        </m:rPr>
                        <a:rPr lang="en-US" sz="1000" b="0" i="1" smtClean="0">
                          <a:latin typeface="Cambria Math" panose="02040503050406030204" pitchFamily="18" charset="0"/>
                        </a:rPr>
                        <m:t>s</m:t>
                      </m:r>
                      <m:r>
                        <a:rPr lang="en-US" sz="1000" b="0" i="1" smtClean="0">
                          <a:latin typeface="Cambria Math" panose="02040503050406030204" pitchFamily="18" charset="0"/>
                        </a:rPr>
                        <m:t>) ,</m:t>
                      </m:r>
                      <m:r>
                        <m:rPr>
                          <m:sty m:val="p"/>
                        </m:rPr>
                        <a:rPr lang="en-US" sz="1000" b="0" i="1" smtClean="0">
                          <a:latin typeface="Cambria Math" panose="02040503050406030204" pitchFamily="18" charset="0"/>
                        </a:rPr>
                        <m:t>s</m:t>
                      </m:r>
                      <m:r>
                        <a:rPr lang="en-US" sz="1000" b="0" i="1" smtClean="0">
                          <a:latin typeface="Cambria Math" panose="02040503050406030204" pitchFamily="18" charset="0"/>
                        </a:rPr>
                        <m:t> →</m:t>
                      </m:r>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2</m:t>
                          </m:r>
                        </m:num>
                        <m:den>
                          <m:r>
                            <m:rPr>
                              <m:sty m:val="p"/>
                            </m:rPr>
                            <a:rPr lang="en-US" sz="1000" b="0" i="1" smtClean="0">
                              <a:latin typeface="Cambria Math" panose="02040503050406030204" pitchFamily="18" charset="0"/>
                            </a:rPr>
                            <m:t>T</m:t>
                          </m:r>
                        </m:den>
                      </m:f>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1</m:t>
                          </m:r>
                          <m:r>
                            <a:rPr lang="en-US" sz="1000" b="0" i="1" smtClean="0">
                              <a:latin typeface="Cambria Math" panose="02040503050406030204" pitchFamily="18" charset="0"/>
                              <a:ea typeface="Cambria Math" panose="02040503050406030204" pitchFamily="18" charset="0"/>
                            </a:rPr>
                            <m:t>−</m:t>
                          </m:r>
                          <m:sSup>
                            <m:sSupPr>
                              <m:ctrlPr>
                                <a:rPr lang="en-US" sz="1000" b="0" i="1" smtClean="0">
                                  <a:latin typeface="Cambria Math" panose="02040503050406030204" pitchFamily="18" charset="0"/>
                                </a:rPr>
                              </m:ctrlPr>
                            </m:sSupPr>
                            <m:e>
                              <m:r>
                                <m:rPr>
                                  <m:sty m:val="p"/>
                                </m:rPr>
                                <a:rPr lang="en-US" sz="1000" b="0" i="1" smtClean="0">
                                  <a:latin typeface="Cambria Math" panose="02040503050406030204" pitchFamily="18" charset="0"/>
                                </a:rPr>
                                <m:t>z</m:t>
                              </m:r>
                            </m:e>
                            <m:sup>
                              <m:r>
                                <a:rPr lang="en-US" sz="1000" b="0" i="1" smtClean="0">
                                  <a:latin typeface="Cambria Math" panose="02040503050406030204" pitchFamily="18" charset="0"/>
                                  <a:ea typeface="Cambria Math" panose="02040503050406030204" pitchFamily="18" charset="0"/>
                                </a:rPr>
                                <m:t>−</m:t>
                              </m:r>
                              <m:r>
                                <a:rPr lang="en-US" sz="1000" b="0" i="1" smtClean="0">
                                  <a:latin typeface="Cambria Math" panose="02040503050406030204" pitchFamily="18" charset="0"/>
                                </a:rPr>
                                <m:t>1</m:t>
                              </m:r>
                            </m:sup>
                          </m:sSup>
                        </m:num>
                        <m:den>
                          <m:r>
                            <a:rPr lang="en-US" sz="1000" b="0" i="1" smtClean="0">
                              <a:latin typeface="Cambria Math" panose="02040503050406030204" pitchFamily="18" charset="0"/>
                            </a:rPr>
                            <m:t>1</m:t>
                          </m:r>
                          <m:r>
                            <a:rPr lang="en-US" sz="1000" b="0" i="1" smtClean="0">
                              <a:latin typeface="Cambria Math" panose="02040503050406030204" pitchFamily="18" charset="0"/>
                              <a:ea typeface="Cambria Math" panose="02040503050406030204" pitchFamily="18" charset="0"/>
                            </a:rPr>
                            <m:t>+</m:t>
                          </m:r>
                          <m:sSup>
                            <m:sSupPr>
                              <m:ctrlPr>
                                <a:rPr lang="en-US" sz="1000" i="1">
                                  <a:latin typeface="Cambria Math" panose="02040503050406030204" pitchFamily="18" charset="0"/>
                                </a:rPr>
                              </m:ctrlPr>
                            </m:sSupPr>
                            <m:e>
                              <m:r>
                                <m:rPr>
                                  <m:sty m:val="p"/>
                                </m:rPr>
                                <a:rPr lang="en-US" sz="1000" i="1">
                                  <a:latin typeface="Cambria Math" panose="02040503050406030204" pitchFamily="18" charset="0"/>
                                </a:rPr>
                                <m:t>z</m:t>
                              </m:r>
                            </m:e>
                            <m:sup>
                              <m:r>
                                <a:rPr lang="en-US" sz="1000" i="1" smtClean="0">
                                  <a:latin typeface="Cambria Math" panose="02040503050406030204" pitchFamily="18" charset="0"/>
                                  <a:ea typeface="Cambria Math" panose="02040503050406030204" pitchFamily="18" charset="0"/>
                                </a:rPr>
                                <m:t>−</m:t>
                              </m:r>
                              <m:r>
                                <a:rPr lang="en-US" sz="1000" i="1">
                                  <a:latin typeface="Cambria Math" panose="02040503050406030204" pitchFamily="18" charset="0"/>
                                </a:rPr>
                                <m:t>1</m:t>
                              </m:r>
                            </m:sup>
                          </m:sSup>
                        </m:den>
                      </m:f>
                    </m:oMath>
                  </m:oMathPara>
                </a14:m>
                <a:endParaRPr lang="en-IN" sz="1000" dirty="0"/>
              </a:p>
            </p:txBody>
          </p:sp>
        </mc:Choice>
        <mc:Fallback xmlns="">
          <p:sp>
            <p:nvSpPr>
              <p:cNvPr id="36" name="TextBox 35">
                <a:extLst>
                  <a:ext uri="{FF2B5EF4-FFF2-40B4-BE49-F238E27FC236}">
                    <a16:creationId xmlns:a16="http://schemas.microsoft.com/office/drawing/2014/main" id="{6F22ED76-F122-C8A4-5A02-211D460BDD63}"/>
                  </a:ext>
                </a:extLst>
              </p:cNvPr>
              <p:cNvSpPr txBox="1">
                <a:spLocks noRot="1" noChangeAspect="1" noMove="1" noResize="1" noEditPoints="1" noAdjustHandles="1" noChangeArrowheads="1" noChangeShapeType="1" noTextEdit="1"/>
              </p:cNvSpPr>
              <p:nvPr/>
            </p:nvSpPr>
            <p:spPr>
              <a:xfrm>
                <a:off x="5848738" y="9018776"/>
                <a:ext cx="2090372" cy="311047"/>
              </a:xfrm>
              <a:prstGeom prst="rect">
                <a:avLst/>
              </a:prstGeom>
              <a:blipFill>
                <a:blip r:embed="rId15"/>
                <a:stretch>
                  <a:fillRect b="-13725"/>
                </a:stretch>
              </a:blipFill>
            </p:spPr>
            <p:txBody>
              <a:bodyPr/>
              <a:lstStyle/>
              <a:p>
                <a:r>
                  <a:rPr lang="en-IN">
                    <a:noFill/>
                  </a:rPr>
                  <a:t> </a:t>
                </a:r>
              </a:p>
            </p:txBody>
          </p:sp>
        </mc:Fallback>
      </mc:AlternateContent>
      <p:pic>
        <p:nvPicPr>
          <p:cNvPr id="38" name="Picture 37">
            <a:extLst>
              <a:ext uri="{FF2B5EF4-FFF2-40B4-BE49-F238E27FC236}">
                <a16:creationId xmlns:a16="http://schemas.microsoft.com/office/drawing/2014/main" id="{32729D99-7E26-1CE7-C7CB-347F11AF3720}"/>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358784" y="3227570"/>
            <a:ext cx="2162695" cy="1024387"/>
          </a:xfrm>
          <a:prstGeom prst="rect">
            <a:avLst/>
          </a:prstGeom>
        </p:spPr>
      </p:pic>
      <p:pic>
        <p:nvPicPr>
          <p:cNvPr id="20" name="Picture 19">
            <a:extLst>
              <a:ext uri="{FF2B5EF4-FFF2-40B4-BE49-F238E27FC236}">
                <a16:creationId xmlns:a16="http://schemas.microsoft.com/office/drawing/2014/main" id="{E54E531C-9404-9452-CD5D-600DD6B1CE6B}"/>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8349228" y="3232877"/>
            <a:ext cx="1988669" cy="1024387"/>
          </a:xfrm>
          <a:prstGeom prst="rect">
            <a:avLst/>
          </a:prstGeom>
        </p:spPr>
      </p:pic>
      <p:sp>
        <p:nvSpPr>
          <p:cNvPr id="28" name="Rectangle 3">
            <a:extLst>
              <a:ext uri="{FF2B5EF4-FFF2-40B4-BE49-F238E27FC236}">
                <a16:creationId xmlns:a16="http://schemas.microsoft.com/office/drawing/2014/main" id="{DDEAB342-FC6D-2A75-B899-9767B22BAB7B}"/>
              </a:ext>
            </a:extLst>
          </p:cNvPr>
          <p:cNvSpPr>
            <a:spLocks noChangeArrowheads="1"/>
          </p:cNvSpPr>
          <p:nvPr/>
        </p:nvSpPr>
        <p:spPr bwMode="auto">
          <a:xfrm>
            <a:off x="8633047" y="7845503"/>
            <a:ext cx="3741137" cy="1361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TextBox 30">
            <a:extLst>
              <a:ext uri="{FF2B5EF4-FFF2-40B4-BE49-F238E27FC236}">
                <a16:creationId xmlns:a16="http://schemas.microsoft.com/office/drawing/2014/main" id="{EF7991EE-2502-492B-07F8-FDAF33E13893}"/>
              </a:ext>
            </a:extLst>
          </p:cNvPr>
          <p:cNvSpPr txBox="1"/>
          <p:nvPr/>
        </p:nvSpPr>
        <p:spPr>
          <a:xfrm>
            <a:off x="8389536" y="7001918"/>
            <a:ext cx="4078597" cy="1631216"/>
          </a:xfrm>
          <a:prstGeom prst="rect">
            <a:avLst/>
          </a:prstGeom>
          <a:noFill/>
        </p:spPr>
        <p:txBody>
          <a:bodyPr wrap="square" rtlCol="0">
            <a:spAutoFit/>
          </a:bodyPr>
          <a:lstStyle/>
          <a:p>
            <a:pPr marL="285750" indent="-285750">
              <a:buFont typeface="Arial" panose="020B0604020202020204" pitchFamily="34" charset="0"/>
              <a:buChar char="•"/>
            </a:pPr>
            <a:r>
              <a:rPr lang="en-US" sz="1000" dirty="0"/>
              <a:t>EEG signals were effectively processed using time- and frequency-domain DSP techniques.</a:t>
            </a:r>
          </a:p>
          <a:p>
            <a:pPr marL="285750" indent="-285750">
              <a:buFont typeface="Arial" panose="020B0604020202020204" pitchFamily="34" charset="0"/>
              <a:buChar char="•"/>
            </a:pPr>
            <a:r>
              <a:rPr lang="en-US" sz="1000" dirty="0"/>
              <a:t>Extraction of EEG band energies enabled reliable analysis of emotional states.</a:t>
            </a:r>
          </a:p>
          <a:p>
            <a:pPr marL="285750" indent="-285750">
              <a:buFont typeface="Arial" panose="020B0604020202020204" pitchFamily="34" charset="0"/>
              <a:buChar char="•"/>
            </a:pPr>
            <a:r>
              <a:rPr lang="en-US" sz="1000" dirty="0"/>
              <a:t>The proposed DSP-based approach provides an </a:t>
            </a:r>
            <a:r>
              <a:rPr lang="en-US" sz="1000" b="1" dirty="0"/>
              <a:t>interpretable and low-complexity solution</a:t>
            </a:r>
            <a:r>
              <a:rPr lang="en-US" sz="1000" dirty="0"/>
              <a:t> for EEG emotion analysis.</a:t>
            </a:r>
          </a:p>
          <a:p>
            <a:pPr marL="285750" indent="-285750">
              <a:buFont typeface="Arial" panose="020B0604020202020204" pitchFamily="34" charset="0"/>
              <a:buChar char="•"/>
            </a:pPr>
            <a:r>
              <a:rPr lang="en-US" sz="1000" dirty="0"/>
              <a:t>Window-based processing captures </a:t>
            </a:r>
            <a:r>
              <a:rPr lang="en-US" sz="1000" b="1" dirty="0"/>
              <a:t>temporal variations in emotional states</a:t>
            </a:r>
            <a:r>
              <a:rPr lang="en-US" sz="1000" dirty="0"/>
              <a:t> effectively.</a:t>
            </a:r>
          </a:p>
          <a:p>
            <a:pPr marL="285750" indent="-285750">
              <a:buFont typeface="Arial" panose="020B0604020202020204" pitchFamily="34" charset="0"/>
              <a:buChar char="•"/>
            </a:pPr>
            <a:r>
              <a:rPr lang="en-US" sz="1000" dirty="0"/>
              <a:t>The methodology can be extended to </a:t>
            </a:r>
            <a:r>
              <a:rPr lang="en-US" sz="1000" b="1" dirty="0"/>
              <a:t>real-time emotion monitoring systems</a:t>
            </a:r>
            <a:r>
              <a:rPr lang="en-US" sz="1000" dirty="0"/>
              <a:t> using wearable EEG devices.</a:t>
            </a:r>
            <a:endParaRPr lang="en-IN" sz="1000" dirty="0"/>
          </a:p>
        </p:txBody>
      </p:sp>
      <p:pic>
        <p:nvPicPr>
          <p:cNvPr id="17" name="Picture 16">
            <a:extLst>
              <a:ext uri="{FF2B5EF4-FFF2-40B4-BE49-F238E27FC236}">
                <a16:creationId xmlns:a16="http://schemas.microsoft.com/office/drawing/2014/main" id="{40E4DF2D-0B7A-BD3E-D52E-384D0BB7486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385136" y="1539287"/>
            <a:ext cx="2198220" cy="826138"/>
          </a:xfrm>
          <a:prstGeom prst="rect">
            <a:avLst/>
          </a:prstGeom>
        </p:spPr>
      </p:pic>
      <p:sp>
        <p:nvSpPr>
          <p:cNvPr id="18" name="Rectangle 17">
            <a:extLst>
              <a:ext uri="{FF2B5EF4-FFF2-40B4-BE49-F238E27FC236}">
                <a16:creationId xmlns:a16="http://schemas.microsoft.com/office/drawing/2014/main" id="{1951FE5C-6944-8123-0D1D-CBF069EC3AF9}"/>
              </a:ext>
            </a:extLst>
          </p:cNvPr>
          <p:cNvSpPr/>
          <p:nvPr/>
        </p:nvSpPr>
        <p:spPr>
          <a:xfrm>
            <a:off x="4136535" y="1368489"/>
            <a:ext cx="818317" cy="4104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60" dirty="0"/>
              <a:t>EEG Signal Acquisition</a:t>
            </a:r>
            <a:endParaRPr lang="en-IN" sz="860" dirty="0"/>
          </a:p>
        </p:txBody>
      </p:sp>
      <p:sp>
        <p:nvSpPr>
          <p:cNvPr id="21" name="Rectangle 20">
            <a:extLst>
              <a:ext uri="{FF2B5EF4-FFF2-40B4-BE49-F238E27FC236}">
                <a16:creationId xmlns:a16="http://schemas.microsoft.com/office/drawing/2014/main" id="{2928D19B-F299-C920-85FC-614C7978EC9E}"/>
              </a:ext>
            </a:extLst>
          </p:cNvPr>
          <p:cNvSpPr/>
          <p:nvPr/>
        </p:nvSpPr>
        <p:spPr>
          <a:xfrm>
            <a:off x="5320680" y="1368489"/>
            <a:ext cx="1028110" cy="4099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60" dirty="0"/>
              <a:t>Preprocessing</a:t>
            </a:r>
          </a:p>
          <a:p>
            <a:pPr algn="ctr"/>
            <a:r>
              <a:rPr lang="en-US" sz="860" dirty="0"/>
              <a:t>(Filtering + Artifact Removal)</a:t>
            </a:r>
            <a:endParaRPr lang="en-IN" sz="860" dirty="0"/>
          </a:p>
        </p:txBody>
      </p:sp>
      <p:sp>
        <p:nvSpPr>
          <p:cNvPr id="23" name="Rectangle 22">
            <a:extLst>
              <a:ext uri="{FF2B5EF4-FFF2-40B4-BE49-F238E27FC236}">
                <a16:creationId xmlns:a16="http://schemas.microsoft.com/office/drawing/2014/main" id="{821FBF70-B91D-CC93-9974-F708C8115AE7}"/>
              </a:ext>
            </a:extLst>
          </p:cNvPr>
          <p:cNvSpPr/>
          <p:nvPr/>
        </p:nvSpPr>
        <p:spPr>
          <a:xfrm>
            <a:off x="6761511" y="1374355"/>
            <a:ext cx="1162033" cy="4039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60" dirty="0"/>
              <a:t>Feature Extraction</a:t>
            </a:r>
            <a:endParaRPr lang="en-IN" sz="860" dirty="0"/>
          </a:p>
        </p:txBody>
      </p:sp>
      <p:sp>
        <p:nvSpPr>
          <p:cNvPr id="25" name="Rectangle 24">
            <a:extLst>
              <a:ext uri="{FF2B5EF4-FFF2-40B4-BE49-F238E27FC236}">
                <a16:creationId xmlns:a16="http://schemas.microsoft.com/office/drawing/2014/main" id="{5B0D8F41-1606-E896-7FBC-74B475BC72B8}"/>
              </a:ext>
            </a:extLst>
          </p:cNvPr>
          <p:cNvSpPr/>
          <p:nvPr/>
        </p:nvSpPr>
        <p:spPr>
          <a:xfrm>
            <a:off x="6761511" y="2162405"/>
            <a:ext cx="1162033" cy="40261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60" dirty="0"/>
              <a:t>Energy computation </a:t>
            </a:r>
          </a:p>
          <a:p>
            <a:pPr algn="ctr"/>
            <a:r>
              <a:rPr lang="en-US" sz="860" dirty="0"/>
              <a:t>(Band power ratios)</a:t>
            </a:r>
            <a:endParaRPr lang="en-IN" sz="860" dirty="0"/>
          </a:p>
        </p:txBody>
      </p:sp>
      <p:sp>
        <p:nvSpPr>
          <p:cNvPr id="27" name="Rectangle 26">
            <a:extLst>
              <a:ext uri="{FF2B5EF4-FFF2-40B4-BE49-F238E27FC236}">
                <a16:creationId xmlns:a16="http://schemas.microsoft.com/office/drawing/2014/main" id="{D8E69120-7F9D-EE7C-49DF-93E240F3D699}"/>
              </a:ext>
            </a:extLst>
          </p:cNvPr>
          <p:cNvSpPr/>
          <p:nvPr/>
        </p:nvSpPr>
        <p:spPr>
          <a:xfrm>
            <a:off x="5011976" y="2160724"/>
            <a:ext cx="1249754" cy="40261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60" dirty="0"/>
              <a:t>Emotion</a:t>
            </a:r>
          </a:p>
          <a:p>
            <a:pPr algn="ctr"/>
            <a:r>
              <a:rPr lang="en-US" sz="860" dirty="0"/>
              <a:t>Classification/Analysis</a:t>
            </a:r>
            <a:endParaRPr lang="en-IN" sz="860" dirty="0"/>
          </a:p>
        </p:txBody>
      </p:sp>
      <p:cxnSp>
        <p:nvCxnSpPr>
          <p:cNvPr id="35" name="Straight Arrow Connector 34">
            <a:extLst>
              <a:ext uri="{FF2B5EF4-FFF2-40B4-BE49-F238E27FC236}">
                <a16:creationId xmlns:a16="http://schemas.microsoft.com/office/drawing/2014/main" id="{E7104D74-6942-067D-3A3F-072C0CE05D71}"/>
              </a:ext>
            </a:extLst>
          </p:cNvPr>
          <p:cNvCxnSpPr>
            <a:cxnSpLocks/>
            <a:stCxn id="18" idx="3"/>
            <a:endCxn id="21" idx="1"/>
          </p:cNvCxnSpPr>
          <p:nvPr/>
        </p:nvCxnSpPr>
        <p:spPr>
          <a:xfrm flipV="1">
            <a:off x="4954852" y="1573455"/>
            <a:ext cx="365828" cy="2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8E06EA16-0F63-32AA-AB6E-06CF972859D9}"/>
              </a:ext>
            </a:extLst>
          </p:cNvPr>
          <p:cNvCxnSpPr>
            <a:cxnSpLocks/>
            <a:stCxn id="21" idx="3"/>
            <a:endCxn id="23" idx="1"/>
          </p:cNvCxnSpPr>
          <p:nvPr/>
        </p:nvCxnSpPr>
        <p:spPr>
          <a:xfrm>
            <a:off x="6348790" y="1573455"/>
            <a:ext cx="412721" cy="28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8" name="Straight Arrow Connector 107">
            <a:extLst>
              <a:ext uri="{FF2B5EF4-FFF2-40B4-BE49-F238E27FC236}">
                <a16:creationId xmlns:a16="http://schemas.microsoft.com/office/drawing/2014/main" id="{03612EDC-D4D6-83DB-7EC6-5D596D18786A}"/>
              </a:ext>
            </a:extLst>
          </p:cNvPr>
          <p:cNvCxnSpPr>
            <a:cxnSpLocks/>
            <a:stCxn id="25" idx="1"/>
            <a:endCxn id="27" idx="3"/>
          </p:cNvCxnSpPr>
          <p:nvPr/>
        </p:nvCxnSpPr>
        <p:spPr>
          <a:xfrm flipH="1" flipV="1">
            <a:off x="6261730" y="2362030"/>
            <a:ext cx="499781" cy="168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3" name="Straight Arrow Connector 112">
            <a:extLst>
              <a:ext uri="{FF2B5EF4-FFF2-40B4-BE49-F238E27FC236}">
                <a16:creationId xmlns:a16="http://schemas.microsoft.com/office/drawing/2014/main" id="{D338E732-8D70-8F9A-5858-9DA383D8724D}"/>
              </a:ext>
            </a:extLst>
          </p:cNvPr>
          <p:cNvCxnSpPr>
            <a:cxnSpLocks/>
            <a:stCxn id="23" idx="2"/>
            <a:endCxn id="25" idx="0"/>
          </p:cNvCxnSpPr>
          <p:nvPr/>
        </p:nvCxnSpPr>
        <p:spPr>
          <a:xfrm>
            <a:off x="7342528" y="1778291"/>
            <a:ext cx="0" cy="38411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6" name="TextBox 115">
            <a:extLst>
              <a:ext uri="{FF2B5EF4-FFF2-40B4-BE49-F238E27FC236}">
                <a16:creationId xmlns:a16="http://schemas.microsoft.com/office/drawing/2014/main" id="{89136F07-91F4-4A4B-3A63-A3420909795C}"/>
              </a:ext>
            </a:extLst>
          </p:cNvPr>
          <p:cNvSpPr txBox="1"/>
          <p:nvPr/>
        </p:nvSpPr>
        <p:spPr>
          <a:xfrm>
            <a:off x="10694092" y="2359608"/>
            <a:ext cx="1889172" cy="347788"/>
          </a:xfrm>
          <a:prstGeom prst="rect">
            <a:avLst/>
          </a:prstGeom>
          <a:noFill/>
        </p:spPr>
        <p:txBody>
          <a:bodyPr wrap="square">
            <a:spAutoFit/>
          </a:bodyPr>
          <a:lstStyle/>
          <a:p>
            <a:r>
              <a:rPr lang="en-US" sz="800" dirty="0">
                <a:cs typeface="Times New Roman" panose="02020603050405020304" pitchFamily="18" charset="0"/>
              </a:rPr>
              <a:t>Fig.5: Phase response of the IIR Butterworth Bandpass filter </a:t>
            </a:r>
            <a:endParaRPr lang="en-IN" sz="800" dirty="0"/>
          </a:p>
        </p:txBody>
      </p:sp>
      <p:pic>
        <p:nvPicPr>
          <p:cNvPr id="15" name="Picture 14">
            <a:extLst>
              <a:ext uri="{FF2B5EF4-FFF2-40B4-BE49-F238E27FC236}">
                <a16:creationId xmlns:a16="http://schemas.microsoft.com/office/drawing/2014/main" id="{52BF6D67-C083-1B3A-09F7-0CD516F0E2C4}"/>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697125" y="3236338"/>
            <a:ext cx="2435733" cy="1127294"/>
          </a:xfrm>
          <a:prstGeom prst="rect">
            <a:avLst/>
          </a:prstGeom>
        </p:spPr>
      </p:pic>
      <p:pic>
        <p:nvPicPr>
          <p:cNvPr id="22" name="Picture 21">
            <a:extLst>
              <a:ext uri="{FF2B5EF4-FFF2-40B4-BE49-F238E27FC236}">
                <a16:creationId xmlns:a16="http://schemas.microsoft.com/office/drawing/2014/main" id="{435F719B-4982-F979-EAA8-1508BBB597F0}"/>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26496" y="4747405"/>
            <a:ext cx="2571962" cy="943666"/>
          </a:xfrm>
          <a:prstGeom prst="rect">
            <a:avLst/>
          </a:prstGeom>
        </p:spPr>
      </p:pic>
      <p:pic>
        <p:nvPicPr>
          <p:cNvPr id="30" name="Picture 29">
            <a:extLst>
              <a:ext uri="{FF2B5EF4-FFF2-40B4-BE49-F238E27FC236}">
                <a16:creationId xmlns:a16="http://schemas.microsoft.com/office/drawing/2014/main" id="{5E033202-7D9F-8B7C-F3CC-EFC534E64DEF}"/>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319501" y="1533034"/>
            <a:ext cx="2039283" cy="828996"/>
          </a:xfrm>
          <a:prstGeom prst="rect">
            <a:avLst/>
          </a:prstGeom>
        </p:spPr>
      </p:pic>
      <p:pic>
        <p:nvPicPr>
          <p:cNvPr id="14" name="Picture 13">
            <a:extLst>
              <a:ext uri="{FF2B5EF4-FFF2-40B4-BE49-F238E27FC236}">
                <a16:creationId xmlns:a16="http://schemas.microsoft.com/office/drawing/2014/main" id="{F7CB1DB5-A1CB-B9DF-4654-27DA6C62B75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0962102" y="4491296"/>
            <a:ext cx="1389641" cy="1141982"/>
          </a:xfrm>
          <a:prstGeom prst="rect">
            <a:avLst/>
          </a:prstGeom>
        </p:spPr>
      </p:pic>
      <p:sp>
        <p:nvSpPr>
          <p:cNvPr id="16" name="TextBox 15">
            <a:extLst>
              <a:ext uri="{FF2B5EF4-FFF2-40B4-BE49-F238E27FC236}">
                <a16:creationId xmlns:a16="http://schemas.microsoft.com/office/drawing/2014/main" id="{6045C64A-536F-8A6C-B154-30E4A2F5C565}"/>
              </a:ext>
            </a:extLst>
          </p:cNvPr>
          <p:cNvSpPr txBox="1"/>
          <p:nvPr/>
        </p:nvSpPr>
        <p:spPr>
          <a:xfrm>
            <a:off x="10718860" y="5590791"/>
            <a:ext cx="1889172" cy="215444"/>
          </a:xfrm>
          <a:prstGeom prst="rect">
            <a:avLst/>
          </a:prstGeom>
          <a:noFill/>
        </p:spPr>
        <p:txBody>
          <a:bodyPr wrap="square">
            <a:spAutoFit/>
          </a:bodyPr>
          <a:lstStyle/>
          <a:p>
            <a:r>
              <a:rPr lang="en-US" sz="800" dirty="0">
                <a:cs typeface="Times New Roman" panose="02020603050405020304" pitchFamily="18" charset="0"/>
              </a:rPr>
              <a:t>Fig.8: </a:t>
            </a:r>
            <a:r>
              <a:rPr lang="en-IN" sz="800" dirty="0"/>
              <a:t>Emotion Classification Distribution</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2980</TotalTime>
  <Words>782</Words>
  <Application>Microsoft Office PowerPoint</Application>
  <PresentationFormat>A3 Paper (297x420 mm)</PresentationFormat>
  <Paragraphs>100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Bookman Old Style</vt:lpstr>
      <vt:lpstr>Calibri</vt:lpstr>
      <vt:lpstr>Calibri Light</vt:lpstr>
      <vt:lpstr>Cambria Math</vt:lpstr>
      <vt:lpstr>Courier New</vt:lpstr>
      <vt:lpstr>Times New Roman</vt:lpstr>
      <vt:lpstr>Office Theme</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aesplancopy.co.uk</dc:creator>
  <cp:lastModifiedBy>shreevatsa Dhumwad</cp:lastModifiedBy>
  <cp:revision>430</cp:revision>
  <dcterms:created xsi:type="dcterms:W3CDTF">2009-07-23T11:11:00Z</dcterms:created>
  <dcterms:modified xsi:type="dcterms:W3CDTF">2026-05-10T06:29:53Z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276A18596BE04397BF1FBB275A056D9C_13</vt:lpwstr>
  </property>
  <property fmtid="{D5CDD505-2E9C-101B-9397-08002B2CF9AE}" pid="3" name="KSOProductBuildVer">
    <vt:lpwstr>1033-12.2.0.13431</vt:lpwstr>
  </property>
</Properties>
</file>